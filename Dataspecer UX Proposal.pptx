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20"/>
    </p:embeddedFont>
    <p:embeddedFont>
      <p:font typeface="Garet Bold" charset="1" panose="00000000000000000000"/>
      <p:regular r:id="rId21"/>
    </p:embeddedFont>
    <p:embeddedFont>
      <p:font typeface="Garet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22" Target="../media/image22.png" Type="http://schemas.openxmlformats.org/officeDocument/2006/relationships/image"/><Relationship Id="rId23" Target="../media/image23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63.png" Type="http://schemas.openxmlformats.org/officeDocument/2006/relationships/image"/><Relationship Id="rId19" Target="../media/image64.sv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65.png" Type="http://schemas.openxmlformats.org/officeDocument/2006/relationships/image"/><Relationship Id="rId21" Target="../media/image66.sv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3.jpe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79.png" Type="http://schemas.openxmlformats.org/officeDocument/2006/relationships/image"/><Relationship Id="rId21" Target="../media/image80.sv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media/image83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14" Target="../media/image92.png" Type="http://schemas.openxmlformats.org/officeDocument/2006/relationships/image"/><Relationship Id="rId15" Target="../media/image93.svg" Type="http://schemas.openxmlformats.org/officeDocument/2006/relationships/image"/><Relationship Id="rId16" Target="../media/image94.png" Type="http://schemas.openxmlformats.org/officeDocument/2006/relationships/image"/><Relationship Id="rId17" Target="../media/image95.svg" Type="http://schemas.openxmlformats.org/officeDocument/2006/relationships/image"/><Relationship Id="rId18" Target="../media/image96.png" Type="http://schemas.openxmlformats.org/officeDocument/2006/relationships/image"/><Relationship Id="rId19" Target="../media/image97.sv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98.png" Type="http://schemas.openxmlformats.org/officeDocument/2006/relationships/image"/><Relationship Id="rId21" Target="../media/image99.svg" Type="http://schemas.openxmlformats.org/officeDocument/2006/relationships/image"/><Relationship Id="rId22" Target="../media/image100.png" Type="http://schemas.openxmlformats.org/officeDocument/2006/relationships/image"/><Relationship Id="rId23" Target="../media/image101.svg" Type="http://schemas.openxmlformats.org/officeDocument/2006/relationships/image"/><Relationship Id="rId24" Target="../media/image102.png" Type="http://schemas.openxmlformats.org/officeDocument/2006/relationships/image"/><Relationship Id="rId25" Target="../media/image103.svg" Type="http://schemas.openxmlformats.org/officeDocument/2006/relationships/image"/><Relationship Id="rId26" Target="../media/image104.png" Type="http://schemas.openxmlformats.org/officeDocument/2006/relationships/image"/><Relationship Id="rId27" Target="../media/image105.svg" Type="http://schemas.openxmlformats.org/officeDocument/2006/relationships/image"/><Relationship Id="rId28" Target="../media/image106.png" Type="http://schemas.openxmlformats.org/officeDocument/2006/relationships/image"/><Relationship Id="rId29" Target="../media/image107.svg" Type="http://schemas.openxmlformats.org/officeDocument/2006/relationships/image"/><Relationship Id="rId3" Target="../media/image49.png" Type="http://schemas.openxmlformats.org/officeDocument/2006/relationships/image"/><Relationship Id="rId30" Target="../media/image108.png" Type="http://schemas.openxmlformats.org/officeDocument/2006/relationships/image"/><Relationship Id="rId31" Target="../media/image109.svg" Type="http://schemas.openxmlformats.org/officeDocument/2006/relationships/image"/><Relationship Id="rId32" Target="../media/image110.png" Type="http://schemas.openxmlformats.org/officeDocument/2006/relationships/image"/><Relationship Id="rId33" Target="../media/image111.svg" Type="http://schemas.openxmlformats.org/officeDocument/2006/relationships/image"/><Relationship Id="rId4" Target="../media/image50.svg" Type="http://schemas.openxmlformats.org/officeDocument/2006/relationships/image"/><Relationship Id="rId5" Target="../media/image3.jpe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12" Target="../media/image116.png" Type="http://schemas.openxmlformats.org/officeDocument/2006/relationships/image"/><Relationship Id="rId13" Target="../media/image117.svg" Type="http://schemas.openxmlformats.org/officeDocument/2006/relationships/image"/><Relationship Id="rId14" Target="../media/image118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ray abstract line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3602" y="3833702"/>
            <a:ext cx="14780459" cy="3129451"/>
            <a:chOff x="0" y="0"/>
            <a:chExt cx="19707279" cy="41726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07279" cy="4172601"/>
            </a:xfrm>
            <a:custGeom>
              <a:avLst/>
              <a:gdLst/>
              <a:ahLst/>
              <a:cxnLst/>
              <a:rect r="r" b="b" t="t" l="l"/>
              <a:pathLst>
                <a:path h="4172601" w="19707279">
                  <a:moveTo>
                    <a:pt x="0" y="0"/>
                  </a:moveTo>
                  <a:lnTo>
                    <a:pt x="19707279" y="0"/>
                  </a:lnTo>
                  <a:lnTo>
                    <a:pt x="19707279" y="4172601"/>
                  </a:lnTo>
                  <a:lnTo>
                    <a:pt x="0" y="41726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93" t="0" r="56844" b="1782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9707279" cy="4172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880"/>
                </a:lnSpc>
              </a:pPr>
              <a:r>
                <a:rPr lang="en-US" b="true" sz="7400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IMPROVING UX OF PUBLISHED DATA SPECIFICATIONS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09092" y="7806827"/>
            <a:ext cx="171450" cy="171450"/>
            <a:chOff x="0" y="0"/>
            <a:chExt cx="228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51992" y="7676453"/>
            <a:ext cx="2435352" cy="423196"/>
            <a:chOff x="0" y="0"/>
            <a:chExt cx="3247136" cy="564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47136" cy="564261"/>
            </a:xfrm>
            <a:custGeom>
              <a:avLst/>
              <a:gdLst/>
              <a:ahLst/>
              <a:cxnLst/>
              <a:rect r="r" b="b" t="t" l="l"/>
              <a:pathLst>
                <a:path h="564261" w="3247136">
                  <a:moveTo>
                    <a:pt x="0" y="0"/>
                  </a:moveTo>
                  <a:lnTo>
                    <a:pt x="3247136" y="0"/>
                  </a:lnTo>
                  <a:lnTo>
                    <a:pt x="3247136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804" r="16106" b="-413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247136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Four View Levels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82828" y="7802326"/>
            <a:ext cx="192966" cy="171450"/>
            <a:chOff x="0" y="0"/>
            <a:chExt cx="257287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7287" cy="228600"/>
            </a:xfrm>
            <a:custGeom>
              <a:avLst/>
              <a:gdLst/>
              <a:ahLst/>
              <a:cxnLst/>
              <a:rect r="r" b="b" t="t" l="l"/>
              <a:pathLst>
                <a:path h="228600" w="257287">
                  <a:moveTo>
                    <a:pt x="128644" y="0"/>
                  </a:moveTo>
                  <a:cubicBezTo>
                    <a:pt x="199684" y="0"/>
                    <a:pt x="257287" y="51181"/>
                    <a:pt x="257287" y="114300"/>
                  </a:cubicBezTo>
                  <a:cubicBezTo>
                    <a:pt x="257287" y="177419"/>
                    <a:pt x="199684" y="228600"/>
                    <a:pt x="128644" y="228600"/>
                  </a:cubicBezTo>
                  <a:cubicBezTo>
                    <a:pt x="57604" y="228600"/>
                    <a:pt x="0" y="177419"/>
                    <a:pt x="0" y="114300"/>
                  </a:cubicBezTo>
                  <a:cubicBezTo>
                    <a:pt x="0" y="51181"/>
                    <a:pt x="57604" y="0"/>
                    <a:pt x="128644" y="0"/>
                  </a:cubicBezTo>
                  <a:close/>
                </a:path>
              </a:pathLst>
            </a:custGeom>
            <a:solidFill>
              <a:srgbClr val="63992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09144" y="7697027"/>
            <a:ext cx="2572875" cy="423196"/>
            <a:chOff x="0" y="0"/>
            <a:chExt cx="3430500" cy="5642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30500" cy="564261"/>
            </a:xfrm>
            <a:custGeom>
              <a:avLst/>
              <a:gdLst/>
              <a:ahLst/>
              <a:cxnLst/>
              <a:rect r="r" b="b" t="t" l="l"/>
              <a:pathLst>
                <a:path h="564261" w="3430500">
                  <a:moveTo>
                    <a:pt x="0" y="0"/>
                  </a:moveTo>
                  <a:lnTo>
                    <a:pt x="3430500" y="0"/>
                  </a:lnTo>
                  <a:lnTo>
                    <a:pt x="34305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988" r="11149" b="-5251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34305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Role-Based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130918" y="7803326"/>
            <a:ext cx="150863" cy="171450"/>
            <a:chOff x="0" y="0"/>
            <a:chExt cx="201151" cy="22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51" cy="228600"/>
            </a:xfrm>
            <a:custGeom>
              <a:avLst/>
              <a:gdLst/>
              <a:ahLst/>
              <a:cxnLst/>
              <a:rect r="r" b="b" t="t" l="l"/>
              <a:pathLst>
                <a:path h="228600" w="201151">
                  <a:moveTo>
                    <a:pt x="100576" y="0"/>
                  </a:moveTo>
                  <a:cubicBezTo>
                    <a:pt x="156116" y="0"/>
                    <a:pt x="201151" y="51181"/>
                    <a:pt x="201151" y="114300"/>
                  </a:cubicBezTo>
                  <a:cubicBezTo>
                    <a:pt x="201151" y="177419"/>
                    <a:pt x="156116" y="228600"/>
                    <a:pt x="100576" y="228600"/>
                  </a:cubicBezTo>
                  <a:cubicBezTo>
                    <a:pt x="45035" y="228600"/>
                    <a:pt x="0" y="177419"/>
                    <a:pt x="0" y="114300"/>
                  </a:cubicBezTo>
                  <a:cubicBezTo>
                    <a:pt x="0" y="51181"/>
                    <a:pt x="45035" y="0"/>
                    <a:pt x="100576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453231" y="7697027"/>
            <a:ext cx="3399907" cy="432197"/>
            <a:chOff x="0" y="0"/>
            <a:chExt cx="4533209" cy="5762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33209" cy="576262"/>
            </a:xfrm>
            <a:custGeom>
              <a:avLst/>
              <a:gdLst/>
              <a:ahLst/>
              <a:cxnLst/>
              <a:rect r="r" b="b" t="t" l="l"/>
              <a:pathLst>
                <a:path h="576262" w="4533209">
                  <a:moveTo>
                    <a:pt x="0" y="0"/>
                  </a:moveTo>
                  <a:lnTo>
                    <a:pt x="4533209" y="0"/>
                  </a:lnTo>
                  <a:lnTo>
                    <a:pt x="4533209" y="576262"/>
                  </a:lnTo>
                  <a:lnTo>
                    <a:pt x="0" y="5762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748" r="19735" b="-693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533209" cy="6524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Progressive Disclosure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572737" y="3246446"/>
            <a:ext cx="3270200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Dataspecer · UX research proposals ·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1500" y="571500"/>
            <a:ext cx="2057400" cy="457200"/>
            <a:chOff x="0" y="0"/>
            <a:chExt cx="27432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3200" cy="609600"/>
            </a:xfrm>
            <a:custGeom>
              <a:avLst/>
              <a:gdLst/>
              <a:ahLst/>
              <a:cxnLst/>
              <a:rect r="r" b="b" t="t" l="l"/>
              <a:pathLst>
                <a:path h="609600" w="2743200">
                  <a:moveTo>
                    <a:pt x="304800" y="0"/>
                  </a:moveTo>
                  <a:lnTo>
                    <a:pt x="2438400" y="0"/>
                  </a:lnTo>
                  <a:cubicBezTo>
                    <a:pt x="2606675" y="0"/>
                    <a:pt x="2743200" y="136525"/>
                    <a:pt x="2743200" y="304800"/>
                  </a:cubicBezTo>
                  <a:cubicBezTo>
                    <a:pt x="2743200" y="473075"/>
                    <a:pt x="2606675" y="609600"/>
                    <a:pt x="24384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DE59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700088"/>
            <a:ext cx="1800444" cy="275653"/>
            <a:chOff x="0" y="0"/>
            <a:chExt cx="2400592" cy="367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0598" cy="367538"/>
            </a:xfrm>
            <a:custGeom>
              <a:avLst/>
              <a:gdLst/>
              <a:ahLst/>
              <a:cxnLst/>
              <a:rect r="r" b="b" t="t" l="l"/>
              <a:pathLst>
                <a:path h="367538" w="2400598">
                  <a:moveTo>
                    <a:pt x="0" y="0"/>
                  </a:moveTo>
                  <a:lnTo>
                    <a:pt x="2400598" y="0"/>
                  </a:lnTo>
                  <a:lnTo>
                    <a:pt x="2400598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210" r="0" b="-713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00592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545454"/>
                  </a:solidFill>
                  <a:latin typeface="Garet"/>
                  <a:ea typeface="Garet"/>
                  <a:cs typeface="Garet"/>
                  <a:sym typeface="Garet"/>
                </a:rPr>
                <a:t>Problem Framing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9119" y="827094"/>
            <a:ext cx="16993041" cy="1465097"/>
            <a:chOff x="0" y="0"/>
            <a:chExt cx="22657388" cy="1953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57388" cy="1953463"/>
            </a:xfrm>
            <a:custGeom>
              <a:avLst/>
              <a:gdLst/>
              <a:ahLst/>
              <a:cxnLst/>
              <a:rect r="r" b="b" t="t" l="l"/>
              <a:pathLst>
                <a:path h="1953463" w="22657388">
                  <a:moveTo>
                    <a:pt x="0" y="0"/>
                  </a:moveTo>
                  <a:lnTo>
                    <a:pt x="22657388" y="0"/>
                  </a:lnTo>
                  <a:lnTo>
                    <a:pt x="22657388" y="1953463"/>
                  </a:lnTo>
                  <a:lnTo>
                    <a:pt x="0" y="19534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175" r="-2912" b="-1559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3825"/>
              <a:ext cx="22657388" cy="1829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545454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The Problem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2057400"/>
            <a:ext cx="17287875" cy="469582"/>
            <a:chOff x="0" y="0"/>
            <a:chExt cx="23050500" cy="626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50500" cy="626110"/>
            </a:xfrm>
            <a:custGeom>
              <a:avLst/>
              <a:gdLst/>
              <a:ahLst/>
              <a:cxnLst/>
              <a:rect r="r" b="b" t="t" l="l"/>
              <a:pathLst>
                <a:path h="626110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626110"/>
                  </a:lnTo>
                  <a:lnTo>
                    <a:pt x="0" y="6261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74753" r="0" b="-6599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3050500" cy="67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Current published specification pages behave like static technical documents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69119" y="2797969"/>
            <a:ext cx="8405812" cy="6919912"/>
          </a:xfrm>
          <a:custGeom>
            <a:avLst/>
            <a:gdLst/>
            <a:ahLst/>
            <a:cxnLst/>
            <a:rect r="r" b="b" t="t" l="l"/>
            <a:pathLst>
              <a:path h="6919912" w="8405812">
                <a:moveTo>
                  <a:pt x="0" y="0"/>
                </a:moveTo>
                <a:lnTo>
                  <a:pt x="8405812" y="0"/>
                </a:lnTo>
                <a:lnTo>
                  <a:pt x="8405812" y="6919912"/>
                </a:lnTo>
                <a:lnTo>
                  <a:pt x="0" y="6919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8688" y="3157538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28712" y="33575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00933" y="3240834"/>
            <a:ext cx="3433004" cy="560832"/>
            <a:chOff x="0" y="0"/>
            <a:chExt cx="4577338" cy="7477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7338" cy="747776"/>
            </a:xfrm>
            <a:custGeom>
              <a:avLst/>
              <a:gdLst/>
              <a:ahLst/>
              <a:cxnLst/>
              <a:rect r="r" b="b" t="t" l="l"/>
              <a:pathLst>
                <a:path h="747776" w="4577338">
                  <a:moveTo>
                    <a:pt x="0" y="0"/>
                  </a:moveTo>
                  <a:lnTo>
                    <a:pt x="4577338" y="0"/>
                  </a:lnTo>
                  <a:lnTo>
                    <a:pt x="4577338" y="747776"/>
                  </a:lnTo>
                  <a:lnTo>
                    <a:pt x="0" y="7477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546" r="20093" b="-360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577338" cy="77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Observed Issues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688" y="4439841"/>
            <a:ext cx="457200" cy="457200"/>
            <a:chOff x="0" y="0"/>
            <a:chExt cx="6096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48350" y="4568428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14488" y="4456843"/>
            <a:ext cx="4643438" cy="423196"/>
            <a:chOff x="0" y="0"/>
            <a:chExt cx="6191250" cy="5642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91250" cy="564261"/>
            </a:xfrm>
            <a:custGeom>
              <a:avLst/>
              <a:gdLst/>
              <a:ahLst/>
              <a:cxnLst/>
              <a:rect r="r" b="b" t="t" l="l"/>
              <a:pathLst>
                <a:path h="564261" w="6191250">
                  <a:moveTo>
                    <a:pt x="0" y="0"/>
                  </a:moveTo>
                  <a:lnTo>
                    <a:pt x="6191250" y="0"/>
                  </a:lnTo>
                  <a:lnTo>
                    <a:pt x="61912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6530" r="0" b="-1610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61912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Long scrolling documentation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14488" y="5016103"/>
            <a:ext cx="5753830" cy="352806"/>
            <a:chOff x="0" y="0"/>
            <a:chExt cx="7671773" cy="4704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71774" cy="470408"/>
            </a:xfrm>
            <a:custGeom>
              <a:avLst/>
              <a:gdLst/>
              <a:ahLst/>
              <a:cxnLst/>
              <a:rect r="r" b="b" t="t" l="l"/>
              <a:pathLst>
                <a:path h="470408" w="7671774">
                  <a:moveTo>
                    <a:pt x="0" y="0"/>
                  </a:moveTo>
                  <a:lnTo>
                    <a:pt x="7671774" y="0"/>
                  </a:lnTo>
                  <a:lnTo>
                    <a:pt x="7671774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7066" r="19546" b="-2042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671773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Makes orientation difficult and overwhelming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8688" y="5747147"/>
            <a:ext cx="457200" cy="457200"/>
            <a:chOff x="0" y="0"/>
            <a:chExt cx="609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073353" y="5875734"/>
            <a:ext cx="175022" cy="200025"/>
          </a:xfrm>
          <a:custGeom>
            <a:avLst/>
            <a:gdLst/>
            <a:ahLst/>
            <a:cxnLst/>
            <a:rect r="r" b="b" t="t" l="l"/>
            <a:pathLst>
              <a:path h="200025" w="175022">
                <a:moveTo>
                  <a:pt x="0" y="0"/>
                </a:moveTo>
                <a:lnTo>
                  <a:pt x="175022" y="0"/>
                </a:lnTo>
                <a:lnTo>
                  <a:pt x="175022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614488" y="5776389"/>
            <a:ext cx="4386262" cy="423196"/>
            <a:chOff x="0" y="0"/>
            <a:chExt cx="5848350" cy="5642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48350" cy="564261"/>
            </a:xfrm>
            <a:custGeom>
              <a:avLst/>
              <a:gdLst/>
              <a:ahLst/>
              <a:cxnLst/>
              <a:rect r="r" b="b" t="t" l="l"/>
              <a:pathLst>
                <a:path h="564261" w="5848350">
                  <a:moveTo>
                    <a:pt x="0" y="0"/>
                  </a:moveTo>
                  <a:lnTo>
                    <a:pt x="5848350" y="0"/>
                  </a:lnTo>
                  <a:lnTo>
                    <a:pt x="58483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4689" r="0" b="-14922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58483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Static SVG overview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14488" y="6323409"/>
            <a:ext cx="5646612" cy="352806"/>
            <a:chOff x="0" y="0"/>
            <a:chExt cx="7528816" cy="4704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28816" cy="470408"/>
            </a:xfrm>
            <a:custGeom>
              <a:avLst/>
              <a:gdLst/>
              <a:ahLst/>
              <a:cxnLst/>
              <a:rect r="r" b="b" t="t" l="l"/>
              <a:pathLst>
                <a:path h="470408" w="7528816">
                  <a:moveTo>
                    <a:pt x="0" y="0"/>
                  </a:moveTo>
                  <a:lnTo>
                    <a:pt x="7528816" y="0"/>
                  </a:lnTo>
                  <a:lnTo>
                    <a:pt x="7528816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2862" r="22573" b="-1900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528816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Cannot be filtered or explored interactively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8688" y="7054453"/>
            <a:ext cx="457200" cy="457200"/>
            <a:chOff x="0" y="0"/>
            <a:chExt cx="6096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048350" y="7183041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614488" y="7080980"/>
            <a:ext cx="4957762" cy="423196"/>
            <a:chOff x="0" y="0"/>
            <a:chExt cx="6610350" cy="56426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0350" cy="564261"/>
            </a:xfrm>
            <a:custGeom>
              <a:avLst/>
              <a:gdLst/>
              <a:ahLst/>
              <a:cxnLst/>
              <a:rect r="r" b="b" t="t" l="l"/>
              <a:pathLst>
                <a:path h="564261" w="6610350">
                  <a:moveTo>
                    <a:pt x="0" y="0"/>
                  </a:moveTo>
                  <a:lnTo>
                    <a:pt x="6610350" y="0"/>
                  </a:lnTo>
                  <a:lnTo>
                    <a:pt x="66103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1002" r="0" b="-17553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66103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Hidden connections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14488" y="7630716"/>
            <a:ext cx="6188121" cy="352806"/>
            <a:chOff x="0" y="0"/>
            <a:chExt cx="8250828" cy="4704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50828" cy="470408"/>
            </a:xfrm>
            <a:custGeom>
              <a:avLst/>
              <a:gdLst/>
              <a:ahLst/>
              <a:cxnLst/>
              <a:rect r="r" b="b" t="t" l="l"/>
              <a:pathLst>
                <a:path h="470408" w="8250828">
                  <a:moveTo>
                    <a:pt x="0" y="0"/>
                  </a:moveTo>
                  <a:lnTo>
                    <a:pt x="8250828" y="0"/>
                  </a:lnTo>
                  <a:lnTo>
                    <a:pt x="8250828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425" r="20113" b="-22161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250828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Relationships between specs are hard to browse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8688" y="8361759"/>
            <a:ext cx="457200" cy="457200"/>
            <a:chOff x="0" y="0"/>
            <a:chExt cx="6096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048350" y="8490347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614488" y="8378762"/>
            <a:ext cx="5500688" cy="423196"/>
            <a:chOff x="0" y="0"/>
            <a:chExt cx="7334250" cy="5642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34250" cy="564261"/>
            </a:xfrm>
            <a:custGeom>
              <a:avLst/>
              <a:gdLst/>
              <a:ahLst/>
              <a:cxnLst/>
              <a:rect r="r" b="b" t="t" l="l"/>
              <a:pathLst>
                <a:path h="564261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6000" r="0" b="-20053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73342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Missing implementation view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14488" y="8938022"/>
            <a:ext cx="6446127" cy="352806"/>
            <a:chOff x="0" y="0"/>
            <a:chExt cx="8594836" cy="4704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94836" cy="470408"/>
            </a:xfrm>
            <a:custGeom>
              <a:avLst/>
              <a:gdLst/>
              <a:ahLst/>
              <a:cxnLst/>
              <a:rect r="r" b="b" t="t" l="l"/>
              <a:pathLst>
                <a:path h="470408" w="8594836">
                  <a:moveTo>
                    <a:pt x="0" y="0"/>
                  </a:moveTo>
                  <a:lnTo>
                    <a:pt x="8594836" y="0"/>
                  </a:lnTo>
                  <a:lnTo>
                    <a:pt x="8594836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10" r="14888" b="-25160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8594836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Technical users lack direct code-oriented perspective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9313069" y="2797969"/>
            <a:ext cx="8405812" cy="6919912"/>
          </a:xfrm>
          <a:custGeom>
            <a:avLst/>
            <a:gdLst/>
            <a:ahLst/>
            <a:cxnLst/>
            <a:rect r="r" b="b" t="t" l="l"/>
            <a:pathLst>
              <a:path h="6919912" w="8405812">
                <a:moveTo>
                  <a:pt x="0" y="0"/>
                </a:moveTo>
                <a:lnTo>
                  <a:pt x="8405812" y="0"/>
                </a:lnTo>
                <a:lnTo>
                  <a:pt x="8405812" y="6919912"/>
                </a:lnTo>
                <a:lnTo>
                  <a:pt x="0" y="6919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9672638" y="3157538"/>
            <a:ext cx="685800" cy="685800"/>
            <a:chOff x="0" y="0"/>
            <a:chExt cx="9144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9908381" y="3357562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3" y="0"/>
                </a:lnTo>
                <a:lnTo>
                  <a:pt x="214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548938" y="3240834"/>
            <a:ext cx="5151139" cy="560832"/>
            <a:chOff x="0" y="0"/>
            <a:chExt cx="6868185" cy="7477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68185" cy="747776"/>
            </a:xfrm>
            <a:custGeom>
              <a:avLst/>
              <a:gdLst/>
              <a:ahLst/>
              <a:cxnLst/>
              <a:rect r="r" b="b" t="t" l="l"/>
              <a:pathLst>
                <a:path h="747776" w="6868185">
                  <a:moveTo>
                    <a:pt x="0" y="0"/>
                  </a:moveTo>
                  <a:lnTo>
                    <a:pt x="6868185" y="0"/>
                  </a:lnTo>
                  <a:lnTo>
                    <a:pt x="6868185" y="747776"/>
                  </a:lnTo>
                  <a:lnTo>
                    <a:pt x="0" y="7477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9013" r="44249" b="-405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868185" cy="77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Design Response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72638" y="4439841"/>
            <a:ext cx="457200" cy="457200"/>
            <a:chOff x="0" y="0"/>
            <a:chExt cx="609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9804797" y="4568428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0334625" y="4473845"/>
            <a:ext cx="4757738" cy="423196"/>
            <a:chOff x="0" y="0"/>
            <a:chExt cx="6343650" cy="56426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43650" cy="564261"/>
            </a:xfrm>
            <a:custGeom>
              <a:avLst/>
              <a:gdLst/>
              <a:ahLst/>
              <a:cxnLst/>
              <a:rect r="r" b="b" t="t" l="l"/>
              <a:pathLst>
                <a:path h="564261" w="6343650">
                  <a:moveTo>
                    <a:pt x="0" y="0"/>
                  </a:moveTo>
                  <a:lnTo>
                    <a:pt x="6343650" y="0"/>
                  </a:lnTo>
                  <a:lnTo>
                    <a:pt x="63436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1793" r="0" b="-16632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63436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Browser View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344150" y="4928997"/>
            <a:ext cx="5838139" cy="352806"/>
            <a:chOff x="0" y="0"/>
            <a:chExt cx="7784185" cy="47040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784185" cy="470408"/>
            </a:xfrm>
            <a:custGeom>
              <a:avLst/>
              <a:gdLst/>
              <a:ahLst/>
              <a:cxnLst/>
              <a:rect r="r" b="b" t="t" l="l"/>
              <a:pathLst>
                <a:path h="470408" w="7784185">
                  <a:moveTo>
                    <a:pt x="0" y="0"/>
                  </a:moveTo>
                  <a:lnTo>
                    <a:pt x="7784185" y="0"/>
                  </a:lnTo>
                  <a:lnTo>
                    <a:pt x="7784185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3378" r="18750" b="-2105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7784185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To orient users and show connected specifications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72638" y="5747147"/>
            <a:ext cx="457200" cy="457200"/>
            <a:chOff x="0" y="0"/>
            <a:chExt cx="609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sp>
        <p:nvSpPr>
          <p:cNvPr name="Freeform 78" id="78"/>
          <p:cNvSpPr/>
          <p:nvPr/>
        </p:nvSpPr>
        <p:spPr>
          <a:xfrm flipH="false" flipV="false" rot="0">
            <a:off x="9779794" y="5875734"/>
            <a:ext cx="250031" cy="200025"/>
          </a:xfrm>
          <a:custGeom>
            <a:avLst/>
            <a:gdLst/>
            <a:ahLst/>
            <a:cxnLst/>
            <a:rect r="r" b="b" t="t" l="l"/>
            <a:pathLst>
              <a:path h="200025" w="250031">
                <a:moveTo>
                  <a:pt x="0" y="0"/>
                </a:moveTo>
                <a:lnTo>
                  <a:pt x="250031" y="0"/>
                </a:lnTo>
                <a:lnTo>
                  <a:pt x="250031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0334625" y="5724001"/>
            <a:ext cx="3814762" cy="423196"/>
            <a:chOff x="0" y="0"/>
            <a:chExt cx="5086350" cy="56426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086350" cy="564261"/>
            </a:xfrm>
            <a:custGeom>
              <a:avLst/>
              <a:gdLst/>
              <a:ahLst/>
              <a:cxnLst/>
              <a:rect r="r" b="b" t="t" l="l"/>
              <a:pathLst>
                <a:path h="564261" w="5086350">
                  <a:moveTo>
                    <a:pt x="0" y="0"/>
                  </a:moveTo>
                  <a:lnTo>
                    <a:pt x="5086350" y="0"/>
                  </a:lnTo>
                  <a:lnTo>
                    <a:pt x="50863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8376" r="0" b="-12290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50863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Documentation View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358438" y="6156722"/>
            <a:ext cx="6244780" cy="686181"/>
            <a:chOff x="0" y="0"/>
            <a:chExt cx="8326373" cy="9149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326372" cy="914908"/>
            </a:xfrm>
            <a:custGeom>
              <a:avLst/>
              <a:gdLst/>
              <a:ahLst/>
              <a:cxnLst/>
              <a:rect r="r" b="b" t="t" l="l"/>
              <a:pathLst>
                <a:path h="914908" w="8326372">
                  <a:moveTo>
                    <a:pt x="0" y="0"/>
                  </a:moveTo>
                  <a:lnTo>
                    <a:pt x="8326372" y="0"/>
                  </a:lnTo>
                  <a:lnTo>
                    <a:pt x="8326372" y="914908"/>
                  </a:lnTo>
                  <a:lnTo>
                    <a:pt x="0" y="9149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2933" r="39141" b="-3290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8326373" cy="972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To </a:t>
              </a: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support guided reading with filtering, grouping and sorting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72638" y="7054453"/>
            <a:ext cx="457200" cy="457200"/>
            <a:chOff x="0" y="0"/>
            <a:chExt cx="6096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334625" y="7088457"/>
            <a:ext cx="4629150" cy="423196"/>
            <a:chOff x="0" y="0"/>
            <a:chExt cx="6172200" cy="56426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72200" cy="564261"/>
            </a:xfrm>
            <a:custGeom>
              <a:avLst/>
              <a:gdLst/>
              <a:ahLst/>
              <a:cxnLst/>
              <a:rect r="r" b="b" t="t" l="l"/>
              <a:pathLst>
                <a:path h="564261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5872" r="0" b="-16040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61722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</a:t>
              </a: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raph view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358438" y="7511653"/>
            <a:ext cx="5838139" cy="686181"/>
            <a:chOff x="0" y="0"/>
            <a:chExt cx="7784185" cy="91490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784185" cy="914908"/>
            </a:xfrm>
            <a:custGeom>
              <a:avLst/>
              <a:gdLst/>
              <a:ahLst/>
              <a:cxnLst/>
              <a:rect r="r" b="b" t="t" l="l"/>
              <a:pathLst>
                <a:path h="914908" w="7784185">
                  <a:moveTo>
                    <a:pt x="0" y="0"/>
                  </a:moveTo>
                  <a:lnTo>
                    <a:pt x="7784185" y="0"/>
                  </a:lnTo>
                  <a:lnTo>
                    <a:pt x="7784185" y="914908"/>
                  </a:lnTo>
                  <a:lnTo>
                    <a:pt x="0" y="9149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6059" r="20953" b="-5603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7784185" cy="972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To explore relationships and profile hierarchy visually and explore interactively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72638" y="8361759"/>
            <a:ext cx="457200" cy="457200"/>
            <a:chOff x="0" y="0"/>
            <a:chExt cx="609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545454">
                <a:alpha val="784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334625" y="8395764"/>
            <a:ext cx="5172075" cy="423196"/>
            <a:chOff x="0" y="0"/>
            <a:chExt cx="6896100" cy="5642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96100" cy="564261"/>
            </a:xfrm>
            <a:custGeom>
              <a:avLst/>
              <a:gdLst/>
              <a:ahLst/>
              <a:cxnLst/>
              <a:rect r="r" b="b" t="t" l="l"/>
              <a:pathLst>
                <a:path h="564261" w="6896100">
                  <a:moveTo>
                    <a:pt x="0" y="0"/>
                  </a:moveTo>
                  <a:lnTo>
                    <a:pt x="6896100" y="0"/>
                  </a:lnTo>
                  <a:lnTo>
                    <a:pt x="68961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0870" r="0" b="-18540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68961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Structur</a:t>
              </a:r>
              <a:r>
                <a:rPr lang="en-US" b="true" sz="2025">
                  <a:solidFill>
                    <a:srgbClr val="54545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ed developer view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344150" y="8875776"/>
            <a:ext cx="6087523" cy="352806"/>
            <a:chOff x="0" y="0"/>
            <a:chExt cx="8116697" cy="4704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116698" cy="470408"/>
            </a:xfrm>
            <a:custGeom>
              <a:avLst/>
              <a:gdLst/>
              <a:ahLst/>
              <a:cxnLst/>
              <a:rect r="r" b="b" t="t" l="l"/>
              <a:pathLst>
                <a:path h="470408" w="8116698">
                  <a:moveTo>
                    <a:pt x="0" y="0"/>
                  </a:moveTo>
                  <a:lnTo>
                    <a:pt x="8116698" y="0"/>
                  </a:lnTo>
                  <a:lnTo>
                    <a:pt x="8116698" y="470408"/>
                  </a:lnTo>
                  <a:lnTo>
                    <a:pt x="0" y="4704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6262" r="15272" b="-23345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8116697" cy="52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To suppo</a:t>
              </a:r>
              <a:r>
                <a:rPr lang="en-US" sz="1700">
                  <a:solidFill>
                    <a:srgbClr val="3F3D3E"/>
                  </a:solidFill>
                  <a:latin typeface="Garet"/>
                  <a:ea typeface="Garet"/>
                  <a:cs typeface="Garet"/>
                  <a:sym typeface="Garet"/>
                </a:rPr>
                <a:t>rt implementation-oriented understanding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9779794" y="7194685"/>
            <a:ext cx="210741" cy="210741"/>
          </a:xfrm>
          <a:custGeom>
            <a:avLst/>
            <a:gdLst/>
            <a:ahLst/>
            <a:cxnLst/>
            <a:rect r="r" b="b" t="t" l="l"/>
            <a:pathLst>
              <a:path h="210741" w="210741">
                <a:moveTo>
                  <a:pt x="0" y="0"/>
                </a:moveTo>
                <a:lnTo>
                  <a:pt x="210740" y="0"/>
                </a:lnTo>
                <a:lnTo>
                  <a:pt x="210740" y="210741"/>
                </a:lnTo>
                <a:lnTo>
                  <a:pt x="0" y="21074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9795867" y="8479631"/>
            <a:ext cx="210741" cy="210741"/>
          </a:xfrm>
          <a:custGeom>
            <a:avLst/>
            <a:gdLst/>
            <a:ahLst/>
            <a:cxnLst/>
            <a:rect r="r" b="b" t="t" l="l"/>
            <a:pathLst>
              <a:path h="210741" w="210741">
                <a:moveTo>
                  <a:pt x="0" y="0"/>
                </a:moveTo>
                <a:lnTo>
                  <a:pt x="210741" y="0"/>
                </a:lnTo>
                <a:lnTo>
                  <a:pt x="210741" y="210741"/>
                </a:lnTo>
                <a:lnTo>
                  <a:pt x="0" y="21074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1500" y="571500"/>
            <a:ext cx="1414462" cy="457200"/>
            <a:chOff x="0" y="0"/>
            <a:chExt cx="188595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595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5950">
                  <a:moveTo>
                    <a:pt x="304800" y="0"/>
                  </a:moveTo>
                  <a:lnTo>
                    <a:pt x="1581150" y="0"/>
                  </a:lnTo>
                  <a:cubicBezTo>
                    <a:pt x="1749425" y="0"/>
                    <a:pt x="1885950" y="136525"/>
                    <a:pt x="1885950" y="304800"/>
                  </a:cubicBezTo>
                  <a:cubicBezTo>
                    <a:pt x="1885950" y="473075"/>
                    <a:pt x="1749425" y="609600"/>
                    <a:pt x="15811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C447C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700088"/>
            <a:ext cx="1160193" cy="275653"/>
            <a:chOff x="0" y="0"/>
            <a:chExt cx="1546924" cy="367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6920" cy="367538"/>
            </a:xfrm>
            <a:custGeom>
              <a:avLst/>
              <a:gdLst/>
              <a:ahLst/>
              <a:cxnLst/>
              <a:rect r="r" b="b" t="t" l="l"/>
              <a:pathLst>
                <a:path h="367538" w="1546920">
                  <a:moveTo>
                    <a:pt x="0" y="0"/>
                  </a:moveTo>
                  <a:lnTo>
                    <a:pt x="1546920" y="0"/>
                  </a:lnTo>
                  <a:lnTo>
                    <a:pt x="1546920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953" r="0" b="-260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546924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C447C"/>
                  </a:solidFill>
                  <a:latin typeface="Garet"/>
                  <a:ea typeface="Garet"/>
                  <a:cs typeface="Garet"/>
                  <a:sym typeface="Garet"/>
                </a:rPr>
                <a:t>User Types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0866" y="892340"/>
            <a:ext cx="17487900" cy="1465097"/>
            <a:chOff x="0" y="0"/>
            <a:chExt cx="23317200" cy="1953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17200" cy="1953463"/>
            </a:xfrm>
            <a:custGeom>
              <a:avLst/>
              <a:gdLst/>
              <a:ahLst/>
              <a:cxnLst/>
              <a:rect r="r" b="b" t="t" l="l"/>
              <a:pathLst>
                <a:path h="1953463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953463"/>
                  </a:lnTo>
                  <a:lnTo>
                    <a:pt x="0" y="19534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175" r="0" b="-1559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3825"/>
              <a:ext cx="23317200" cy="1829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Three User Types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2000250"/>
            <a:ext cx="17287875" cy="447866"/>
            <a:chOff x="0" y="0"/>
            <a:chExt cx="23050500" cy="5971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50500" cy="597154"/>
            </a:xfrm>
            <a:custGeom>
              <a:avLst/>
              <a:gdLst/>
              <a:ahLst/>
              <a:cxnLst/>
              <a:rect r="r" b="b" t="t" l="l"/>
              <a:pathLst>
                <a:path h="597154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597154"/>
                  </a:lnTo>
                  <a:lnTo>
                    <a:pt x="0" y="5971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07472" r="0" b="-6967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050500" cy="635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6"/>
                </a:lnSpc>
              </a:pPr>
              <a:r>
                <a:rPr lang="en-US" sz="215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Different users need different entry points and detail levels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66738" y="2681288"/>
            <a:ext cx="5538788" cy="6010275"/>
          </a:xfrm>
          <a:custGeom>
            <a:avLst/>
            <a:gdLst/>
            <a:ahLst/>
            <a:cxnLst/>
            <a:rect r="r" b="b" t="t" l="l"/>
            <a:pathLst>
              <a:path h="6010275" w="5538788">
                <a:moveTo>
                  <a:pt x="0" y="0"/>
                </a:moveTo>
                <a:lnTo>
                  <a:pt x="5538787" y="0"/>
                </a:lnTo>
                <a:lnTo>
                  <a:pt x="5538787" y="6010274"/>
                </a:lnTo>
                <a:lnTo>
                  <a:pt x="0" y="60102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2975" y="3057525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50144" y="328612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903143" y="3209020"/>
            <a:ext cx="2128685" cy="469582"/>
            <a:chOff x="0" y="0"/>
            <a:chExt cx="2838247" cy="626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8247" cy="626110"/>
            </a:xfrm>
            <a:custGeom>
              <a:avLst/>
              <a:gdLst/>
              <a:ahLst/>
              <a:cxnLst/>
              <a:rect r="r" b="b" t="t" l="l"/>
              <a:pathLst>
                <a:path h="626110" w="2838247">
                  <a:moveTo>
                    <a:pt x="0" y="0"/>
                  </a:moveTo>
                  <a:lnTo>
                    <a:pt x="2838247" y="0"/>
                  </a:lnTo>
                  <a:lnTo>
                    <a:pt x="2838247" y="626110"/>
                  </a:lnTo>
                  <a:lnTo>
                    <a:pt x="0" y="6261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38" r="37579" b="22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838247" cy="67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Beginner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33575" y="3587020"/>
            <a:ext cx="1285875" cy="327755"/>
            <a:chOff x="0" y="0"/>
            <a:chExt cx="1714500" cy="4370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4500" cy="437007"/>
            </a:xfrm>
            <a:custGeom>
              <a:avLst/>
              <a:gdLst/>
              <a:ahLst/>
              <a:cxnLst/>
              <a:rect r="r" b="b" t="t" l="l"/>
              <a:pathLst>
                <a:path h="437007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853" r="0" b="-200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714500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Learner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2975" y="4086225"/>
            <a:ext cx="4900612" cy="755142"/>
            <a:chOff x="0" y="0"/>
            <a:chExt cx="6534150" cy="1006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34150" cy="1006856"/>
            </a:xfrm>
            <a:custGeom>
              <a:avLst/>
              <a:gdLst/>
              <a:ahLst/>
              <a:cxnLst/>
              <a:rect r="r" b="b" t="t" l="l"/>
              <a:pathLst>
                <a:path h="1006856" w="6534150">
                  <a:moveTo>
                    <a:pt x="0" y="0"/>
                  </a:moveTo>
                  <a:lnTo>
                    <a:pt x="6534150" y="0"/>
                  </a:lnTo>
                  <a:lnTo>
                    <a:pt x="6534150" y="1006856"/>
                  </a:lnTo>
                  <a:lnTo>
                    <a:pt x="0" y="1006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258" r="0" b="-756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6534150" cy="1092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Needs orientation, main concepts, and a clear starting point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1550" y="7158038"/>
            <a:ext cx="200025" cy="200025"/>
            <a:chOff x="0" y="0"/>
            <a:chExt cx="266700" cy="266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7306" y="7105650"/>
            <a:ext cx="3022793" cy="327755"/>
            <a:chOff x="0" y="0"/>
            <a:chExt cx="4030390" cy="4370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30390" cy="437007"/>
            </a:xfrm>
            <a:custGeom>
              <a:avLst/>
              <a:gdLst/>
              <a:ahLst/>
              <a:cxnLst/>
              <a:rect r="r" b="b" t="t" l="l"/>
              <a:pathLst>
                <a:path h="437007" w="4030390">
                  <a:moveTo>
                    <a:pt x="0" y="0"/>
                  </a:moveTo>
                  <a:lnTo>
                    <a:pt x="4030390" y="0"/>
                  </a:lnTo>
                  <a:lnTo>
                    <a:pt x="4030390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1925" r="35718" b="-591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030390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Start in browser 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1550" y="7615238"/>
            <a:ext cx="200025" cy="200025"/>
            <a:chOff x="0" y="0"/>
            <a:chExt cx="266700" cy="266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7306" y="7562850"/>
            <a:ext cx="2724521" cy="327755"/>
            <a:chOff x="0" y="0"/>
            <a:chExt cx="3632695" cy="43700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32695" cy="437007"/>
            </a:xfrm>
            <a:custGeom>
              <a:avLst/>
              <a:gdLst/>
              <a:ahLst/>
              <a:cxnLst/>
              <a:rect r="r" b="b" t="t" l="l"/>
              <a:pathLst>
                <a:path h="437007" w="3632695">
                  <a:moveTo>
                    <a:pt x="0" y="0"/>
                  </a:moveTo>
                  <a:lnTo>
                    <a:pt x="3632695" y="0"/>
                  </a:lnTo>
                  <a:lnTo>
                    <a:pt x="3632695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720" r="24485" b="-659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32695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Important classes first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1550" y="8072438"/>
            <a:ext cx="200025" cy="200025"/>
            <a:chOff x="0" y="0"/>
            <a:chExt cx="266700" cy="266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7306" y="8020050"/>
            <a:ext cx="2724521" cy="327755"/>
            <a:chOff x="0" y="0"/>
            <a:chExt cx="3632695" cy="4370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32695" cy="437007"/>
            </a:xfrm>
            <a:custGeom>
              <a:avLst/>
              <a:gdLst/>
              <a:ahLst/>
              <a:cxnLst/>
              <a:rect r="r" b="b" t="t" l="l"/>
              <a:pathLst>
                <a:path h="437007" w="3632695">
                  <a:moveTo>
                    <a:pt x="0" y="0"/>
                  </a:moveTo>
                  <a:lnTo>
                    <a:pt x="3632695" y="0"/>
                  </a:lnTo>
                  <a:lnTo>
                    <a:pt x="3632695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473" r="27107" b="-6165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632695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Hide low-level details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6376835" y="2681288"/>
            <a:ext cx="5538788" cy="6010275"/>
          </a:xfrm>
          <a:custGeom>
            <a:avLst/>
            <a:gdLst/>
            <a:ahLst/>
            <a:cxnLst/>
            <a:rect r="r" b="b" t="t" l="l"/>
            <a:pathLst>
              <a:path h="6010275" w="5538788">
                <a:moveTo>
                  <a:pt x="0" y="0"/>
                </a:moveTo>
                <a:lnTo>
                  <a:pt x="5538788" y="0"/>
                </a:lnTo>
                <a:lnTo>
                  <a:pt x="5538788" y="6010274"/>
                </a:lnTo>
                <a:lnTo>
                  <a:pt x="0" y="6010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6753073" y="3057525"/>
            <a:ext cx="800100" cy="800100"/>
            <a:chOff x="0" y="0"/>
            <a:chExt cx="1066800" cy="1066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E1F5EE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6981673" y="3286125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7724623" y="3180445"/>
            <a:ext cx="2716504" cy="469582"/>
            <a:chOff x="0" y="0"/>
            <a:chExt cx="3622005" cy="62611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22005" cy="626110"/>
            </a:xfrm>
            <a:custGeom>
              <a:avLst/>
              <a:gdLst/>
              <a:ahLst/>
              <a:cxnLst/>
              <a:rect r="r" b="b" t="t" l="l"/>
              <a:pathLst>
                <a:path h="626110" w="3622005">
                  <a:moveTo>
                    <a:pt x="0" y="0"/>
                  </a:moveTo>
                  <a:lnTo>
                    <a:pt x="3622005" y="0"/>
                  </a:lnTo>
                  <a:lnTo>
                    <a:pt x="3622005" y="626110"/>
                  </a:lnTo>
                  <a:lnTo>
                    <a:pt x="0" y="6261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367" r="23736" b="-2855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3622005" cy="67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Domain Expert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724623" y="3567970"/>
            <a:ext cx="2028825" cy="327755"/>
            <a:chOff x="0" y="0"/>
            <a:chExt cx="2705100" cy="43700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05100" cy="437007"/>
            </a:xfrm>
            <a:custGeom>
              <a:avLst/>
              <a:gdLst/>
              <a:ahLst/>
              <a:cxnLst/>
              <a:rect r="r" b="b" t="t" l="l"/>
              <a:pathLst>
                <a:path h="437007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021" r="0" b="-642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705100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Analyst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53073" y="4086225"/>
            <a:ext cx="4900612" cy="755142"/>
            <a:chOff x="0" y="0"/>
            <a:chExt cx="6534150" cy="10068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34150" cy="1006856"/>
            </a:xfrm>
            <a:custGeom>
              <a:avLst/>
              <a:gdLst/>
              <a:ahLst/>
              <a:cxnLst/>
              <a:rect r="r" b="b" t="t" l="l"/>
              <a:pathLst>
                <a:path h="1006856" w="6534150">
                  <a:moveTo>
                    <a:pt x="0" y="0"/>
                  </a:moveTo>
                  <a:lnTo>
                    <a:pt x="6534150" y="0"/>
                  </a:lnTo>
                  <a:lnTo>
                    <a:pt x="6534150" y="1006856"/>
                  </a:lnTo>
                  <a:lnTo>
                    <a:pt x="0" y="1006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258" r="0" b="-756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6534150" cy="1092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Needs relationships, local vs inherited info, and business meaning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781648" y="7158038"/>
            <a:ext cx="200025" cy="200025"/>
            <a:chOff x="0" y="0"/>
            <a:chExt cx="266700" cy="2667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08504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17404" y="7105650"/>
            <a:ext cx="2636044" cy="327755"/>
            <a:chOff x="0" y="0"/>
            <a:chExt cx="3514725" cy="43700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14725" cy="437007"/>
            </a:xfrm>
            <a:custGeom>
              <a:avLst/>
              <a:gdLst/>
              <a:ahLst/>
              <a:cxnLst/>
              <a:rect r="r" b="b" t="t" l="l"/>
              <a:pathLst>
                <a:path h="437007" w="3514725">
                  <a:moveTo>
                    <a:pt x="0" y="0"/>
                  </a:moveTo>
                  <a:lnTo>
                    <a:pt x="3514725" y="0"/>
                  </a:lnTo>
                  <a:lnTo>
                    <a:pt x="3514725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666" r="18157" b="-71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514725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Graph + documentation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81648" y="7615238"/>
            <a:ext cx="200025" cy="200025"/>
            <a:chOff x="0" y="0"/>
            <a:chExt cx="266700" cy="2667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08504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117404" y="7551372"/>
            <a:ext cx="2464872" cy="327755"/>
            <a:chOff x="0" y="0"/>
            <a:chExt cx="3286496" cy="4370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86496" cy="437007"/>
            </a:xfrm>
            <a:custGeom>
              <a:avLst/>
              <a:gdLst/>
              <a:ahLst/>
              <a:cxnLst/>
              <a:rect r="r" b="b" t="t" l="l"/>
              <a:pathLst>
                <a:path h="437007" w="3286496">
                  <a:moveTo>
                    <a:pt x="0" y="0"/>
                  </a:moveTo>
                  <a:lnTo>
                    <a:pt x="3286496" y="0"/>
                  </a:lnTo>
                  <a:lnTo>
                    <a:pt x="3286496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48" r="43194" b="-2683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286496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Lineage visible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81648" y="8072438"/>
            <a:ext cx="200025" cy="200025"/>
            <a:chOff x="0" y="0"/>
            <a:chExt cx="266700" cy="266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08504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087362" y="8029575"/>
            <a:ext cx="1762906" cy="327755"/>
            <a:chOff x="0" y="0"/>
            <a:chExt cx="2350541" cy="43700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50541" cy="437007"/>
            </a:xfrm>
            <a:custGeom>
              <a:avLst/>
              <a:gdLst/>
              <a:ahLst/>
              <a:cxnLst/>
              <a:rect r="r" b="b" t="t" l="l"/>
              <a:pathLst>
                <a:path h="437007" w="2350541">
                  <a:moveTo>
                    <a:pt x="0" y="0"/>
                  </a:moveTo>
                  <a:lnTo>
                    <a:pt x="2350541" y="0"/>
                  </a:lnTo>
                  <a:lnTo>
                    <a:pt x="2350541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50" r="23817" b="-2343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350541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Filter by reuse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2187161" y="2681288"/>
            <a:ext cx="5538788" cy="6010275"/>
          </a:xfrm>
          <a:custGeom>
            <a:avLst/>
            <a:gdLst/>
            <a:ahLst/>
            <a:cxnLst/>
            <a:rect r="r" b="b" t="t" l="l"/>
            <a:pathLst>
              <a:path h="6010275" w="5538788">
                <a:moveTo>
                  <a:pt x="0" y="0"/>
                </a:moveTo>
                <a:lnTo>
                  <a:pt x="5538788" y="0"/>
                </a:lnTo>
                <a:lnTo>
                  <a:pt x="5538788" y="6010274"/>
                </a:lnTo>
                <a:lnTo>
                  <a:pt x="0" y="60102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2563399" y="3057525"/>
            <a:ext cx="800100" cy="800100"/>
            <a:chOff x="0" y="0"/>
            <a:chExt cx="1066800" cy="1066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AEEDA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2770568" y="328612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3525424" y="3180445"/>
            <a:ext cx="2956436" cy="469582"/>
            <a:chOff x="0" y="0"/>
            <a:chExt cx="3941914" cy="62611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41914" cy="626110"/>
            </a:xfrm>
            <a:custGeom>
              <a:avLst/>
              <a:gdLst/>
              <a:ahLst/>
              <a:cxnLst/>
              <a:rect r="r" b="b" t="t" l="l"/>
              <a:pathLst>
                <a:path h="626110" w="3941914">
                  <a:moveTo>
                    <a:pt x="0" y="0"/>
                  </a:moveTo>
                  <a:lnTo>
                    <a:pt x="3941914" y="0"/>
                  </a:lnTo>
                  <a:lnTo>
                    <a:pt x="3941914" y="626110"/>
                  </a:lnTo>
                  <a:lnTo>
                    <a:pt x="0" y="6261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367" r="29926" b="-285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941914" cy="67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Technical User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534949" y="3587020"/>
            <a:ext cx="2028825" cy="327755"/>
            <a:chOff x="0" y="0"/>
            <a:chExt cx="2705100" cy="4370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05100" cy="437007"/>
            </a:xfrm>
            <a:custGeom>
              <a:avLst/>
              <a:gdLst/>
              <a:ahLst/>
              <a:cxnLst/>
              <a:rect r="r" b="b" t="t" l="l"/>
              <a:pathLst>
                <a:path h="437007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021" r="0" b="-6420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705100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Implementer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563399" y="4086225"/>
            <a:ext cx="4900612" cy="755142"/>
            <a:chOff x="0" y="0"/>
            <a:chExt cx="6534150" cy="10068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34150" cy="1006856"/>
            </a:xfrm>
            <a:custGeom>
              <a:avLst/>
              <a:gdLst/>
              <a:ahLst/>
              <a:cxnLst/>
              <a:rect r="r" b="b" t="t" l="l"/>
              <a:pathLst>
                <a:path h="1006856" w="6534150">
                  <a:moveTo>
                    <a:pt x="0" y="0"/>
                  </a:moveTo>
                  <a:lnTo>
                    <a:pt x="6534150" y="0"/>
                  </a:lnTo>
                  <a:lnTo>
                    <a:pt x="6534150" y="1006856"/>
                  </a:lnTo>
                  <a:lnTo>
                    <a:pt x="0" y="1006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258" r="0" b="-7564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85725"/>
              <a:ext cx="6534150" cy="1092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Needs fields, requirement levels, structure, and export views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591974" y="7158038"/>
            <a:ext cx="200025" cy="200025"/>
            <a:chOff x="0" y="0"/>
            <a:chExt cx="266700" cy="2667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63380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927730" y="7094172"/>
            <a:ext cx="2819472" cy="327755"/>
            <a:chOff x="0" y="0"/>
            <a:chExt cx="3759296" cy="43700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59297" cy="437007"/>
            </a:xfrm>
            <a:custGeom>
              <a:avLst/>
              <a:gdLst/>
              <a:ahLst/>
              <a:cxnLst/>
              <a:rect r="r" b="b" t="t" l="l"/>
              <a:pathLst>
                <a:path h="437007" w="3759297">
                  <a:moveTo>
                    <a:pt x="0" y="0"/>
                  </a:moveTo>
                  <a:lnTo>
                    <a:pt x="3759297" y="0"/>
                  </a:lnTo>
                  <a:lnTo>
                    <a:pt x="3759297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9955" r="14360" b="-8713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759296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Structured developer view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591974" y="7615238"/>
            <a:ext cx="200025" cy="200025"/>
            <a:chOff x="0" y="0"/>
            <a:chExt cx="266700" cy="2667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63380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927730" y="7551372"/>
            <a:ext cx="2636044" cy="327755"/>
            <a:chOff x="0" y="0"/>
            <a:chExt cx="3514725" cy="43700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14725" cy="437007"/>
            </a:xfrm>
            <a:custGeom>
              <a:avLst/>
              <a:gdLst/>
              <a:ahLst/>
              <a:cxnLst/>
              <a:rect r="r" b="b" t="t" l="l"/>
              <a:pathLst>
                <a:path h="437007" w="3514725">
                  <a:moveTo>
                    <a:pt x="0" y="0"/>
                  </a:moveTo>
                  <a:lnTo>
                    <a:pt x="3514725" y="0"/>
                  </a:lnTo>
                  <a:lnTo>
                    <a:pt x="3514725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3431" r="31707" b="-5061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514725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Cardinalities visible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591974" y="8072438"/>
            <a:ext cx="200025" cy="200025"/>
            <a:chOff x="0" y="0"/>
            <a:chExt cx="266700" cy="2667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63380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927730" y="8008572"/>
            <a:ext cx="2436420" cy="327755"/>
            <a:chOff x="0" y="0"/>
            <a:chExt cx="3248560" cy="43700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248560" cy="437007"/>
            </a:xfrm>
            <a:custGeom>
              <a:avLst/>
              <a:gdLst/>
              <a:ahLst/>
              <a:cxnLst/>
              <a:rect r="r" b="b" t="t" l="l"/>
              <a:pathLst>
                <a:path h="437007" w="3248560">
                  <a:moveTo>
                    <a:pt x="0" y="0"/>
                  </a:moveTo>
                  <a:lnTo>
                    <a:pt x="3248560" y="0"/>
                  </a:lnTo>
                  <a:lnTo>
                    <a:pt x="3248560" y="437007"/>
                  </a:lnTo>
                  <a:lnTo>
                    <a:pt x="0" y="4370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5786" r="31389" b="-4297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248560" cy="475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Structured output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1500" y="571500"/>
            <a:ext cx="2828925" cy="457200"/>
            <a:chOff x="0" y="0"/>
            <a:chExt cx="37719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1900">
                  <a:moveTo>
                    <a:pt x="304800" y="0"/>
                  </a:moveTo>
                  <a:lnTo>
                    <a:pt x="3467100" y="0"/>
                  </a:lnTo>
                  <a:cubicBezTo>
                    <a:pt x="3635375" y="0"/>
                    <a:pt x="3771900" y="136525"/>
                    <a:pt x="3771900" y="304800"/>
                  </a:cubicBezTo>
                  <a:cubicBezTo>
                    <a:pt x="3771900" y="473075"/>
                    <a:pt x="3635375" y="609600"/>
                    <a:pt x="34671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EF9F27">
                <a:alpha val="1961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2950" y="700088"/>
            <a:ext cx="2568845" cy="275653"/>
            <a:chOff x="0" y="0"/>
            <a:chExt cx="3425126" cy="3675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5130" cy="367538"/>
            </a:xfrm>
            <a:custGeom>
              <a:avLst/>
              <a:gdLst/>
              <a:ahLst/>
              <a:cxnLst/>
              <a:rect r="r" b="b" t="t" l="l"/>
              <a:pathLst>
                <a:path h="367538" w="3425130">
                  <a:moveTo>
                    <a:pt x="0" y="0"/>
                  </a:moveTo>
                  <a:lnTo>
                    <a:pt x="3425130" y="0"/>
                  </a:lnTo>
                  <a:lnTo>
                    <a:pt x="3425130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7526" r="0" b="-12563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425126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633806"/>
                  </a:solidFill>
                  <a:latin typeface="Garet"/>
                  <a:ea typeface="Garet"/>
                  <a:cs typeface="Garet"/>
                  <a:sym typeface="Garet"/>
                </a:rPr>
                <a:t>Default Entry Point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9119" y="790575"/>
            <a:ext cx="17487900" cy="1474622"/>
            <a:chOff x="0" y="0"/>
            <a:chExt cx="23317200" cy="1966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17200" cy="1966163"/>
            </a:xfrm>
            <a:custGeom>
              <a:avLst/>
              <a:gdLst/>
              <a:ahLst/>
              <a:cxnLst/>
              <a:rect r="r" b="b" t="t" l="l"/>
              <a:pathLst>
                <a:path h="1966163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966163"/>
                  </a:lnTo>
                  <a:lnTo>
                    <a:pt x="0" y="19661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7824" r="0" b="-1543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23825"/>
              <a:ext cx="23317200" cy="1842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Specification Browser 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0550" y="1950777"/>
            <a:ext cx="17287875" cy="447866"/>
            <a:chOff x="0" y="0"/>
            <a:chExt cx="23050500" cy="5971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50500" cy="597154"/>
            </a:xfrm>
            <a:custGeom>
              <a:avLst/>
              <a:gdLst/>
              <a:ahLst/>
              <a:cxnLst/>
              <a:rect r="r" b="b" t="t" l="l"/>
              <a:pathLst>
                <a:path h="597154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597154"/>
                  </a:lnTo>
                  <a:lnTo>
                    <a:pt x="0" y="5971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07472" r="0" b="-6967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050500" cy="635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6"/>
                </a:lnSpc>
              </a:pPr>
              <a:r>
                <a:rPr lang="en-US" sz="215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The landing page that addresses the initial orientation problem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69119" y="2626519"/>
            <a:ext cx="5461074" cy="1898615"/>
          </a:xfrm>
          <a:custGeom>
            <a:avLst/>
            <a:gdLst/>
            <a:ahLst/>
            <a:cxnLst/>
            <a:rect r="r" b="b" t="t" l="l"/>
            <a:pathLst>
              <a:path h="1898615" w="5461074">
                <a:moveTo>
                  <a:pt x="0" y="0"/>
                </a:moveTo>
                <a:lnTo>
                  <a:pt x="5461074" y="0"/>
                </a:lnTo>
                <a:lnTo>
                  <a:pt x="5461074" y="1898615"/>
                </a:lnTo>
                <a:lnTo>
                  <a:pt x="0" y="1898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822" r="0" b="-44658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71538" y="2928938"/>
            <a:ext cx="571500" cy="571500"/>
            <a:chOff x="0" y="0"/>
            <a:chExt cx="762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24B4A">
                <a:alpha val="784"/>
              </a:srgbClr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42988" y="3100388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5702" y="3003090"/>
            <a:ext cx="2988892" cy="423196"/>
            <a:chOff x="0" y="0"/>
            <a:chExt cx="3985189" cy="56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85189" cy="564261"/>
            </a:xfrm>
            <a:custGeom>
              <a:avLst/>
              <a:gdLst/>
              <a:ahLst/>
              <a:cxnLst/>
              <a:rect r="r" b="b" t="t" l="l"/>
              <a:pathLst>
                <a:path h="564261" w="3985189">
                  <a:moveTo>
                    <a:pt x="0" y="0"/>
                  </a:moveTo>
                  <a:lnTo>
                    <a:pt x="3985189" y="0"/>
                  </a:lnTo>
                  <a:lnTo>
                    <a:pt x="3985189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62714" b="14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3985189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1538" y="3625977"/>
            <a:ext cx="4739556" cy="742950"/>
            <a:chOff x="0" y="0"/>
            <a:chExt cx="6319407" cy="990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19407" cy="990600"/>
            </a:xfrm>
            <a:custGeom>
              <a:avLst/>
              <a:gdLst/>
              <a:ahLst/>
              <a:cxnLst/>
              <a:rect r="r" b="b" t="t" l="l"/>
              <a:pathLst>
                <a:path h="990600" w="6319407">
                  <a:moveTo>
                    <a:pt x="0" y="0"/>
                  </a:moveTo>
                  <a:lnTo>
                    <a:pt x="6319407" y="0"/>
                  </a:lnTo>
                  <a:lnTo>
                    <a:pt x="6319407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7015" b="-8302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319407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Users don't know where to start and cannot easily see how specifications connect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373093" y="2626519"/>
            <a:ext cx="5333554" cy="1898615"/>
          </a:xfrm>
          <a:custGeom>
            <a:avLst/>
            <a:gdLst/>
            <a:ahLst/>
            <a:cxnLst/>
            <a:rect r="r" b="b" t="t" l="l"/>
            <a:pathLst>
              <a:path h="1898615" w="5333554">
                <a:moveTo>
                  <a:pt x="0" y="0"/>
                </a:moveTo>
                <a:lnTo>
                  <a:pt x="5333554" y="0"/>
                </a:lnTo>
                <a:lnTo>
                  <a:pt x="5333554" y="1898615"/>
                </a:lnTo>
                <a:lnTo>
                  <a:pt x="0" y="1898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542" r="0" b="-42448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751472" y="2919412"/>
            <a:ext cx="571500" cy="571500"/>
            <a:chOff x="0" y="0"/>
            <a:chExt cx="762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9922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22922" y="3090862"/>
            <a:ext cx="228600" cy="228600"/>
            <a:chOff x="0" y="0"/>
            <a:chExt cx="304800" cy="30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6399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494422" y="2993565"/>
            <a:ext cx="1909839" cy="423196"/>
            <a:chOff x="0" y="0"/>
            <a:chExt cx="2546452" cy="5642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6452" cy="564261"/>
            </a:xfrm>
            <a:custGeom>
              <a:avLst/>
              <a:gdLst/>
              <a:ahLst/>
              <a:cxnLst/>
              <a:rect r="r" b="b" t="t" l="l"/>
              <a:pathLst>
                <a:path h="564261" w="2546452">
                  <a:moveTo>
                    <a:pt x="0" y="0"/>
                  </a:moveTo>
                  <a:lnTo>
                    <a:pt x="2546452" y="0"/>
                  </a:lnTo>
                  <a:lnTo>
                    <a:pt x="2546452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41648" b="14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2546452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Solution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51472" y="3471291"/>
            <a:ext cx="4596188" cy="742950"/>
            <a:chOff x="0" y="0"/>
            <a:chExt cx="6128251" cy="990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28251" cy="990600"/>
            </a:xfrm>
            <a:custGeom>
              <a:avLst/>
              <a:gdLst/>
              <a:ahLst/>
              <a:cxnLst/>
              <a:rect r="r" b="b" t="t" l="l"/>
              <a:pathLst>
                <a:path h="990600" w="6128251">
                  <a:moveTo>
                    <a:pt x="0" y="0"/>
                  </a:moveTo>
                  <a:lnTo>
                    <a:pt x="6128251" y="0"/>
                  </a:lnTo>
                  <a:lnTo>
                    <a:pt x="6128251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10353" b="-8302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128251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Tree on left, relationship map in center, summary/action panel on right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2059072" y="2626519"/>
            <a:ext cx="5645815" cy="1898615"/>
          </a:xfrm>
          <a:custGeom>
            <a:avLst/>
            <a:gdLst/>
            <a:ahLst/>
            <a:cxnLst/>
            <a:rect r="r" b="b" t="t" l="l"/>
            <a:pathLst>
              <a:path h="1898615" w="5645815">
                <a:moveTo>
                  <a:pt x="0" y="0"/>
                </a:moveTo>
                <a:lnTo>
                  <a:pt x="5645815" y="0"/>
                </a:lnTo>
                <a:lnTo>
                  <a:pt x="5645815" y="1898615"/>
                </a:lnTo>
                <a:lnTo>
                  <a:pt x="0" y="1898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9826" t="-17914" r="0" b="-67263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12402056" y="2880741"/>
            <a:ext cx="571500" cy="571500"/>
            <a:chOff x="0" y="0"/>
            <a:chExt cx="762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C447C">
                <a:alpha val="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583031" y="3052191"/>
            <a:ext cx="228600" cy="228600"/>
            <a:chOff x="0" y="0"/>
            <a:chExt cx="304800" cy="304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1905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143510" y="32766"/>
                  </a:moveTo>
                  <a:lnTo>
                    <a:pt x="152400" y="45085"/>
                  </a:lnTo>
                  <a:lnTo>
                    <a:pt x="161290" y="32766"/>
                  </a:lnTo>
                  <a:cubicBezTo>
                    <a:pt x="176149" y="12192"/>
                    <a:pt x="200152" y="0"/>
                    <a:pt x="225552" y="0"/>
                  </a:cubicBezTo>
                  <a:cubicBezTo>
                    <a:pt x="269367" y="0"/>
                    <a:pt x="304800" y="35433"/>
                    <a:pt x="304800" y="79248"/>
                  </a:cubicBezTo>
                  <a:lnTo>
                    <a:pt x="304800" y="80772"/>
                  </a:lnTo>
                  <a:cubicBezTo>
                    <a:pt x="304800" y="147574"/>
                    <a:pt x="221488" y="225171"/>
                    <a:pt x="178054" y="258318"/>
                  </a:cubicBezTo>
                  <a:cubicBezTo>
                    <a:pt x="170688" y="263906"/>
                    <a:pt x="161671" y="266700"/>
                    <a:pt x="152400" y="266700"/>
                  </a:cubicBezTo>
                  <a:cubicBezTo>
                    <a:pt x="143129" y="266700"/>
                    <a:pt x="134112" y="263906"/>
                    <a:pt x="126746" y="258318"/>
                  </a:cubicBezTo>
                  <a:cubicBezTo>
                    <a:pt x="83312" y="225171"/>
                    <a:pt x="0" y="147574"/>
                    <a:pt x="0" y="80772"/>
                  </a:cubicBezTo>
                  <a:lnTo>
                    <a:pt x="0" y="79248"/>
                  </a:lnTo>
                  <a:cubicBezTo>
                    <a:pt x="0" y="35433"/>
                    <a:pt x="35433" y="0"/>
                    <a:pt x="79248" y="0"/>
                  </a:cubicBezTo>
                  <a:cubicBezTo>
                    <a:pt x="104648" y="0"/>
                    <a:pt x="128651" y="12192"/>
                    <a:pt x="143510" y="32766"/>
                  </a:cubicBezTo>
                  <a:close/>
                </a:path>
              </a:pathLst>
            </a:custGeom>
            <a:solidFill>
              <a:srgbClr val="0C447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164056" y="2954893"/>
            <a:ext cx="1991260" cy="423196"/>
            <a:chOff x="0" y="0"/>
            <a:chExt cx="2655013" cy="5642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55013" cy="564261"/>
            </a:xfrm>
            <a:custGeom>
              <a:avLst/>
              <a:gdLst/>
              <a:ahLst/>
              <a:cxnLst/>
              <a:rect r="r" b="b" t="t" l="l"/>
              <a:pathLst>
                <a:path h="564261" w="2655013">
                  <a:moveTo>
                    <a:pt x="0" y="0"/>
                  </a:moveTo>
                  <a:lnTo>
                    <a:pt x="2655013" y="0"/>
                  </a:lnTo>
                  <a:lnTo>
                    <a:pt x="2655013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81" t="0" r="49828" b="54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2655013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Benefit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68731" y="3575826"/>
            <a:ext cx="4727278" cy="742950"/>
            <a:chOff x="0" y="0"/>
            <a:chExt cx="6303037" cy="990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03037" cy="990600"/>
            </a:xfrm>
            <a:custGeom>
              <a:avLst/>
              <a:gdLst/>
              <a:ahLst/>
              <a:cxnLst/>
              <a:rect r="r" b="b" t="t" l="l"/>
              <a:pathLst>
                <a:path h="990600" w="6303037">
                  <a:moveTo>
                    <a:pt x="0" y="0"/>
                  </a:moveTo>
                  <a:lnTo>
                    <a:pt x="6303037" y="0"/>
                  </a:lnTo>
                  <a:lnTo>
                    <a:pt x="6303037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7293" b="-8302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303037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All user types get orientation before entering detailed views</a:t>
              </a:r>
            </a:p>
          </p:txBody>
        </p:sp>
      </p:grpSp>
      <p:sp>
        <p:nvSpPr>
          <p:cNvPr name="Freeform 48" id="48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871538" y="9901973"/>
            <a:ext cx="16740833" cy="385027"/>
            <a:chOff x="0" y="0"/>
            <a:chExt cx="22321110" cy="5133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321110" cy="513370"/>
            </a:xfrm>
            <a:custGeom>
              <a:avLst/>
              <a:gdLst/>
              <a:ahLst/>
              <a:cxnLst/>
              <a:rect r="r" b="b" t="t" l="l"/>
              <a:pathLst>
                <a:path h="513370" w="22321110">
                  <a:moveTo>
                    <a:pt x="223211" y="0"/>
                  </a:moveTo>
                  <a:lnTo>
                    <a:pt x="22097899" y="0"/>
                  </a:lnTo>
                  <a:cubicBezTo>
                    <a:pt x="22221037" y="0"/>
                    <a:pt x="22321110" y="49320"/>
                    <a:pt x="22321110" y="110008"/>
                  </a:cubicBezTo>
                  <a:lnTo>
                    <a:pt x="22321110" y="403362"/>
                  </a:lnTo>
                  <a:cubicBezTo>
                    <a:pt x="22321110" y="464050"/>
                    <a:pt x="22221037" y="513370"/>
                    <a:pt x="22097899" y="513370"/>
                  </a:cubicBezTo>
                  <a:lnTo>
                    <a:pt x="223211" y="513370"/>
                  </a:lnTo>
                  <a:cubicBezTo>
                    <a:pt x="100073" y="513370"/>
                    <a:pt x="0" y="464050"/>
                    <a:pt x="0" y="403362"/>
                  </a:cubicBezTo>
                  <a:lnTo>
                    <a:pt x="0" y="110008"/>
                  </a:lnTo>
                  <a:cubicBezTo>
                    <a:pt x="0" y="49320"/>
                    <a:pt x="100073" y="0"/>
                    <a:pt x="223211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233488" y="10000272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8" y="0"/>
                </a:lnTo>
                <a:lnTo>
                  <a:pt x="15001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3750291" y="4696584"/>
            <a:ext cx="10409395" cy="5087708"/>
          </a:xfrm>
          <a:custGeom>
            <a:avLst/>
            <a:gdLst/>
            <a:ahLst/>
            <a:cxnLst/>
            <a:rect r="r" b="b" t="t" l="l"/>
            <a:pathLst>
              <a:path h="5087708" w="10409395">
                <a:moveTo>
                  <a:pt x="0" y="0"/>
                </a:moveTo>
                <a:lnTo>
                  <a:pt x="10409395" y="0"/>
                </a:lnTo>
                <a:lnTo>
                  <a:pt x="10409395" y="5087707"/>
                </a:lnTo>
                <a:lnTo>
                  <a:pt x="0" y="50877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614488" y="9882878"/>
            <a:ext cx="12203754" cy="467416"/>
            <a:chOff x="0" y="0"/>
            <a:chExt cx="16271672" cy="62322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271672" cy="623221"/>
            </a:xfrm>
            <a:custGeom>
              <a:avLst/>
              <a:gdLst/>
              <a:ahLst/>
              <a:cxnLst/>
              <a:rect r="r" b="b" t="t" l="l"/>
              <a:pathLst>
                <a:path h="623221" w="16271672">
                  <a:moveTo>
                    <a:pt x="0" y="0"/>
                  </a:moveTo>
                  <a:lnTo>
                    <a:pt x="16271672" y="0"/>
                  </a:lnTo>
                  <a:lnTo>
                    <a:pt x="16271672" y="623221"/>
                  </a:lnTo>
                  <a:lnTo>
                    <a:pt x="0" y="62322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5286" r="16291" b="-3564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6271672" cy="651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3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Scalability benefit: Large ecosystems become manageable — users start from a map and drill into selected branches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1538" y="9901973"/>
            <a:ext cx="16740833" cy="385027"/>
            <a:chOff x="0" y="0"/>
            <a:chExt cx="22321110" cy="513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1110" cy="513370"/>
            </a:xfrm>
            <a:custGeom>
              <a:avLst/>
              <a:gdLst/>
              <a:ahLst/>
              <a:cxnLst/>
              <a:rect r="r" b="b" t="t" l="l"/>
              <a:pathLst>
                <a:path h="513370" w="22321110">
                  <a:moveTo>
                    <a:pt x="223211" y="0"/>
                  </a:moveTo>
                  <a:lnTo>
                    <a:pt x="22097899" y="0"/>
                  </a:lnTo>
                  <a:cubicBezTo>
                    <a:pt x="22221037" y="0"/>
                    <a:pt x="22321110" y="49320"/>
                    <a:pt x="22321110" y="110008"/>
                  </a:cubicBezTo>
                  <a:lnTo>
                    <a:pt x="22321110" y="403362"/>
                  </a:lnTo>
                  <a:cubicBezTo>
                    <a:pt x="22321110" y="464050"/>
                    <a:pt x="22221037" y="513370"/>
                    <a:pt x="22097899" y="513370"/>
                  </a:cubicBezTo>
                  <a:lnTo>
                    <a:pt x="223211" y="513370"/>
                  </a:lnTo>
                  <a:cubicBezTo>
                    <a:pt x="100073" y="513370"/>
                    <a:pt x="0" y="464050"/>
                    <a:pt x="0" y="403362"/>
                  </a:cubicBezTo>
                  <a:lnTo>
                    <a:pt x="0" y="110008"/>
                  </a:lnTo>
                  <a:cubicBezTo>
                    <a:pt x="0" y="49320"/>
                    <a:pt x="100073" y="0"/>
                    <a:pt x="223211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sp>
        <p:nvSpPr>
          <p:cNvPr name="Freeform 6" id="6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71500" y="571500"/>
            <a:ext cx="2271712" cy="457200"/>
            <a:chOff x="0" y="0"/>
            <a:chExt cx="302895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8950" cy="609600"/>
            </a:xfrm>
            <a:custGeom>
              <a:avLst/>
              <a:gdLst/>
              <a:ahLst/>
              <a:cxnLst/>
              <a:rect r="r" b="b" t="t" l="l"/>
              <a:pathLst>
                <a:path h="609600" w="3028950">
                  <a:moveTo>
                    <a:pt x="304800" y="0"/>
                  </a:moveTo>
                  <a:lnTo>
                    <a:pt x="2724150" y="0"/>
                  </a:lnTo>
                  <a:cubicBezTo>
                    <a:pt x="2892425" y="0"/>
                    <a:pt x="3028950" y="136525"/>
                    <a:pt x="3028950" y="304800"/>
                  </a:cubicBezTo>
                  <a:cubicBezTo>
                    <a:pt x="3028950" y="473075"/>
                    <a:pt x="2892425" y="609600"/>
                    <a:pt x="27241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3C3489">
                <a:alpha val="1961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700088"/>
            <a:ext cx="2019005" cy="275653"/>
            <a:chOff x="0" y="0"/>
            <a:chExt cx="2692006" cy="367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92004" cy="367538"/>
            </a:xfrm>
            <a:custGeom>
              <a:avLst/>
              <a:gdLst/>
              <a:ahLst/>
              <a:cxnLst/>
              <a:rect r="r" b="b" t="t" l="l"/>
              <a:pathLst>
                <a:path h="367538" w="2692004">
                  <a:moveTo>
                    <a:pt x="0" y="0"/>
                  </a:moveTo>
                  <a:lnTo>
                    <a:pt x="2692004" y="0"/>
                  </a:lnTo>
                  <a:lnTo>
                    <a:pt x="2692004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660" r="0" b="-8677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692006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Guided Reading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779469"/>
            <a:ext cx="17487900" cy="1465097"/>
            <a:chOff x="0" y="0"/>
            <a:chExt cx="23317200" cy="1953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17200" cy="1953463"/>
            </a:xfrm>
            <a:custGeom>
              <a:avLst/>
              <a:gdLst/>
              <a:ahLst/>
              <a:cxnLst/>
              <a:rect r="r" b="b" t="t" l="l"/>
              <a:pathLst>
                <a:path h="1953463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953463"/>
                  </a:lnTo>
                  <a:lnTo>
                    <a:pt x="0" y="19534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175" r="0" b="-1559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23825"/>
              <a:ext cx="23317200" cy="1829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Structured Documentation 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0075" y="1966436"/>
            <a:ext cx="17287875" cy="447866"/>
            <a:chOff x="0" y="0"/>
            <a:chExt cx="23050500" cy="5971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50500" cy="597154"/>
            </a:xfrm>
            <a:custGeom>
              <a:avLst/>
              <a:gdLst/>
              <a:ahLst/>
              <a:cxnLst/>
              <a:rect r="r" b="b" t="t" l="l"/>
              <a:pathLst>
                <a:path h="597154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597154"/>
                  </a:lnTo>
                  <a:lnTo>
                    <a:pt x="0" y="5971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07472" r="0" b="-6967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050500" cy="635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6"/>
                </a:lnSpc>
              </a:pPr>
              <a:r>
                <a:rPr lang="en-US" sz="215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Familiar documentation made usable with navigation and filters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26269" y="2626519"/>
            <a:ext cx="5562600" cy="1991011"/>
          </a:xfrm>
          <a:custGeom>
            <a:avLst/>
            <a:gdLst/>
            <a:ahLst/>
            <a:cxnLst/>
            <a:rect r="r" b="b" t="t" l="l"/>
            <a:pathLst>
              <a:path h="1991011" w="5562600">
                <a:moveTo>
                  <a:pt x="0" y="0"/>
                </a:moveTo>
                <a:lnTo>
                  <a:pt x="5562600" y="0"/>
                </a:lnTo>
                <a:lnTo>
                  <a:pt x="5562600" y="1991011"/>
                </a:lnTo>
                <a:lnTo>
                  <a:pt x="0" y="1991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45194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71538" y="2928938"/>
            <a:ext cx="571500" cy="571500"/>
            <a:chOff x="0" y="0"/>
            <a:chExt cx="76200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24B4A">
                <a:alpha val="784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42988" y="3100388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14488" y="3003090"/>
            <a:ext cx="1793081" cy="423196"/>
            <a:chOff x="0" y="0"/>
            <a:chExt cx="2390775" cy="5642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90775" cy="564261"/>
            </a:xfrm>
            <a:custGeom>
              <a:avLst/>
              <a:gdLst/>
              <a:ahLst/>
              <a:cxnLst/>
              <a:rect r="r" b="b" t="t" l="l"/>
              <a:pathLst>
                <a:path h="564261" w="2390775">
                  <a:moveTo>
                    <a:pt x="0" y="0"/>
                  </a:moveTo>
                  <a:lnTo>
                    <a:pt x="2390775" y="0"/>
                  </a:lnTo>
                  <a:lnTo>
                    <a:pt x="2390775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37848" b="142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390775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1538" y="3481388"/>
            <a:ext cx="4862122" cy="742950"/>
            <a:chOff x="0" y="0"/>
            <a:chExt cx="6482830" cy="990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82829" cy="990600"/>
            </a:xfrm>
            <a:custGeom>
              <a:avLst/>
              <a:gdLst/>
              <a:ahLst/>
              <a:cxnLst/>
              <a:rect r="r" b="b" t="t" l="l"/>
              <a:pathLst>
                <a:path h="990600" w="6482829">
                  <a:moveTo>
                    <a:pt x="0" y="0"/>
                  </a:moveTo>
                  <a:lnTo>
                    <a:pt x="6482829" y="0"/>
                  </a:lnTo>
                  <a:lnTo>
                    <a:pt x="6482829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4317" b="-830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48283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Long documentation pages are hard to scan, compare, and filter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360243" y="2626519"/>
            <a:ext cx="5562600" cy="1991011"/>
          </a:xfrm>
          <a:custGeom>
            <a:avLst/>
            <a:gdLst/>
            <a:ahLst/>
            <a:cxnLst/>
            <a:rect r="r" b="b" t="t" l="l"/>
            <a:pathLst>
              <a:path h="1991011" w="5562600">
                <a:moveTo>
                  <a:pt x="0" y="0"/>
                </a:moveTo>
                <a:lnTo>
                  <a:pt x="5562600" y="0"/>
                </a:lnTo>
                <a:lnTo>
                  <a:pt x="5562600" y="1991011"/>
                </a:lnTo>
                <a:lnTo>
                  <a:pt x="0" y="1991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45194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6662661" y="2928938"/>
            <a:ext cx="571500" cy="571500"/>
            <a:chOff x="0" y="0"/>
            <a:chExt cx="762000" cy="762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9922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34111" y="3100388"/>
            <a:ext cx="228600" cy="228600"/>
            <a:chOff x="0" y="0"/>
            <a:chExt cx="304800" cy="30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63992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405611" y="3003090"/>
            <a:ext cx="1324365" cy="423196"/>
            <a:chOff x="0" y="0"/>
            <a:chExt cx="1765820" cy="5642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65820" cy="564261"/>
            </a:xfrm>
            <a:custGeom>
              <a:avLst/>
              <a:gdLst/>
              <a:ahLst/>
              <a:cxnLst/>
              <a:rect r="r" b="b" t="t" l="l"/>
              <a:pathLst>
                <a:path h="564261" w="1765820">
                  <a:moveTo>
                    <a:pt x="0" y="0"/>
                  </a:moveTo>
                  <a:lnTo>
                    <a:pt x="1765820" y="0"/>
                  </a:lnTo>
                  <a:lnTo>
                    <a:pt x="176582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15852" b="142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76582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Solution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62661" y="3578542"/>
            <a:ext cx="4993534" cy="742950"/>
            <a:chOff x="0" y="0"/>
            <a:chExt cx="6658045" cy="990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58045" cy="990600"/>
            </a:xfrm>
            <a:custGeom>
              <a:avLst/>
              <a:gdLst/>
              <a:ahLst/>
              <a:cxnLst/>
              <a:rect r="r" b="b" t="t" l="l"/>
              <a:pathLst>
                <a:path h="990600" w="6658045">
                  <a:moveTo>
                    <a:pt x="0" y="0"/>
                  </a:moveTo>
                  <a:lnTo>
                    <a:pt x="6658045" y="0"/>
                  </a:lnTo>
                  <a:lnTo>
                    <a:pt x="6658045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1572" b="-8302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658045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Sidebar navigation, grouped properties, requirement filters, sort, suggestions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2151366" y="2626519"/>
            <a:ext cx="5562600" cy="1991011"/>
          </a:xfrm>
          <a:custGeom>
            <a:avLst/>
            <a:gdLst/>
            <a:ahLst/>
            <a:cxnLst/>
            <a:rect r="r" b="b" t="t" l="l"/>
            <a:pathLst>
              <a:path h="1991011" w="5562600">
                <a:moveTo>
                  <a:pt x="0" y="0"/>
                </a:moveTo>
                <a:lnTo>
                  <a:pt x="5562600" y="0"/>
                </a:lnTo>
                <a:lnTo>
                  <a:pt x="5562600" y="1991011"/>
                </a:lnTo>
                <a:lnTo>
                  <a:pt x="0" y="1991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45194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453785" y="2928938"/>
            <a:ext cx="571500" cy="571500"/>
            <a:chOff x="0" y="0"/>
            <a:chExt cx="762000" cy="76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C447C">
                <a:alpha val="784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625235" y="3100388"/>
            <a:ext cx="228600" cy="228600"/>
            <a:chOff x="0" y="0"/>
            <a:chExt cx="304800" cy="304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1905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143510" y="32766"/>
                  </a:moveTo>
                  <a:lnTo>
                    <a:pt x="152400" y="45085"/>
                  </a:lnTo>
                  <a:lnTo>
                    <a:pt x="161290" y="32766"/>
                  </a:lnTo>
                  <a:cubicBezTo>
                    <a:pt x="176149" y="12192"/>
                    <a:pt x="200152" y="0"/>
                    <a:pt x="225552" y="0"/>
                  </a:cubicBezTo>
                  <a:cubicBezTo>
                    <a:pt x="269367" y="0"/>
                    <a:pt x="304800" y="35433"/>
                    <a:pt x="304800" y="79248"/>
                  </a:cubicBezTo>
                  <a:lnTo>
                    <a:pt x="304800" y="80772"/>
                  </a:lnTo>
                  <a:cubicBezTo>
                    <a:pt x="304800" y="147574"/>
                    <a:pt x="221488" y="225171"/>
                    <a:pt x="178054" y="258318"/>
                  </a:cubicBezTo>
                  <a:cubicBezTo>
                    <a:pt x="170688" y="263906"/>
                    <a:pt x="161671" y="266700"/>
                    <a:pt x="152400" y="266700"/>
                  </a:cubicBezTo>
                  <a:cubicBezTo>
                    <a:pt x="143129" y="266700"/>
                    <a:pt x="134112" y="263906"/>
                    <a:pt x="126746" y="258318"/>
                  </a:cubicBezTo>
                  <a:cubicBezTo>
                    <a:pt x="83312" y="225171"/>
                    <a:pt x="0" y="147574"/>
                    <a:pt x="0" y="80772"/>
                  </a:cubicBezTo>
                  <a:lnTo>
                    <a:pt x="0" y="79248"/>
                  </a:lnTo>
                  <a:cubicBezTo>
                    <a:pt x="0" y="35433"/>
                    <a:pt x="35433" y="0"/>
                    <a:pt x="79248" y="0"/>
                  </a:cubicBezTo>
                  <a:cubicBezTo>
                    <a:pt x="104648" y="0"/>
                    <a:pt x="128651" y="12192"/>
                    <a:pt x="143510" y="32766"/>
                  </a:cubicBezTo>
                  <a:close/>
                </a:path>
              </a:pathLst>
            </a:custGeom>
            <a:solidFill>
              <a:srgbClr val="0C447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196735" y="3048667"/>
            <a:ext cx="1589484" cy="423196"/>
            <a:chOff x="0" y="0"/>
            <a:chExt cx="2119312" cy="56426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19312" cy="564261"/>
            </a:xfrm>
            <a:custGeom>
              <a:avLst/>
              <a:gdLst/>
              <a:ahLst/>
              <a:cxnLst/>
              <a:rect r="r" b="b" t="t" l="l"/>
              <a:pathLst>
                <a:path h="564261" w="2119312">
                  <a:moveTo>
                    <a:pt x="0" y="0"/>
                  </a:moveTo>
                  <a:lnTo>
                    <a:pt x="2119312" y="0"/>
                  </a:lnTo>
                  <a:lnTo>
                    <a:pt x="2119312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730" t="0" r="37146" b="546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2119312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Benefit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53785" y="3671887"/>
            <a:ext cx="4697169" cy="742950"/>
            <a:chOff x="0" y="0"/>
            <a:chExt cx="6262892" cy="990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62892" cy="990600"/>
            </a:xfrm>
            <a:custGeom>
              <a:avLst/>
              <a:gdLst/>
              <a:ahLst/>
              <a:cxnLst/>
              <a:rect r="r" b="b" t="t" l="l"/>
              <a:pathLst>
                <a:path h="990600" w="6262892">
                  <a:moveTo>
                    <a:pt x="0" y="0"/>
                  </a:moveTo>
                  <a:lnTo>
                    <a:pt x="6262892" y="0"/>
                  </a:lnTo>
                  <a:lnTo>
                    <a:pt x="6262892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-7981" b="-830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6262892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Focus on one class at a time instead of reading the whole page linearly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271588" y="9970661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8" y="0"/>
                </a:lnTo>
                <a:lnTo>
                  <a:pt x="15001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587596" y="9942086"/>
            <a:ext cx="12998496" cy="285750"/>
            <a:chOff x="0" y="0"/>
            <a:chExt cx="17331328" cy="38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331328" cy="381000"/>
            </a:xfrm>
            <a:custGeom>
              <a:avLst/>
              <a:gdLst/>
              <a:ahLst/>
              <a:cxnLst/>
              <a:rect r="r" b="b" t="t" l="l"/>
              <a:pathLst>
                <a:path h="381000" w="17331328">
                  <a:moveTo>
                    <a:pt x="0" y="0"/>
                  </a:moveTo>
                  <a:lnTo>
                    <a:pt x="17331328" y="0"/>
                  </a:lnTo>
                  <a:lnTo>
                    <a:pt x="17331328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90431" r="16463" b="-69043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73313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3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Large-spec strategy: Show key classes first, keep the rest discoverable through search and filters, expand detail on demand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863749" y="4817554"/>
            <a:ext cx="9946895" cy="4861655"/>
          </a:xfrm>
          <a:custGeom>
            <a:avLst/>
            <a:gdLst/>
            <a:ahLst/>
            <a:cxnLst/>
            <a:rect r="r" b="b" t="t" l="l"/>
            <a:pathLst>
              <a:path h="4861655" w="9946895">
                <a:moveTo>
                  <a:pt x="0" y="0"/>
                </a:moveTo>
                <a:lnTo>
                  <a:pt x="9946895" y="0"/>
                </a:lnTo>
                <a:lnTo>
                  <a:pt x="9946895" y="4861656"/>
                </a:lnTo>
                <a:lnTo>
                  <a:pt x="0" y="48616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ray abstract line"/>
          <p:cNvSpPr/>
          <p:nvPr/>
        </p:nvSpPr>
        <p:spPr>
          <a:xfrm flipH="false" flipV="false" rot="-574333">
            <a:off x="-647639" y="588869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5522" y="515522"/>
            <a:ext cx="1520781" cy="412413"/>
            <a:chOff x="0" y="0"/>
            <a:chExt cx="2027707" cy="549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7682" cy="549910"/>
            </a:xfrm>
            <a:custGeom>
              <a:avLst/>
              <a:gdLst/>
              <a:ahLst/>
              <a:cxnLst/>
              <a:rect r="r" b="b" t="t" l="l"/>
              <a:pathLst>
                <a:path h="549910" w="2027682">
                  <a:moveTo>
                    <a:pt x="274955" y="0"/>
                  </a:moveTo>
                  <a:lnTo>
                    <a:pt x="1752727" y="0"/>
                  </a:lnTo>
                  <a:cubicBezTo>
                    <a:pt x="1904619" y="0"/>
                    <a:pt x="2027682" y="123063"/>
                    <a:pt x="2027682" y="274955"/>
                  </a:cubicBezTo>
                  <a:cubicBezTo>
                    <a:pt x="2027682" y="426847"/>
                    <a:pt x="1904619" y="549910"/>
                    <a:pt x="1752727" y="549910"/>
                  </a:cubicBezTo>
                  <a:lnTo>
                    <a:pt x="274955" y="549910"/>
                  </a:lnTo>
                  <a:cubicBezTo>
                    <a:pt x="123190" y="549910"/>
                    <a:pt x="0" y="426720"/>
                    <a:pt x="0" y="274955"/>
                  </a:cubicBezTo>
                  <a:cubicBezTo>
                    <a:pt x="0" y="123190"/>
                    <a:pt x="123190" y="0"/>
                    <a:pt x="274955" y="0"/>
                  </a:cubicBezTo>
                  <a:close/>
                </a:path>
              </a:pathLst>
            </a:custGeom>
            <a:solidFill>
              <a:srgbClr val="3C3489">
                <a:alpha val="1961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6040" y="605328"/>
            <a:ext cx="1310051" cy="232800"/>
            <a:chOff x="0" y="0"/>
            <a:chExt cx="1716240" cy="304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6246" cy="304982"/>
            </a:xfrm>
            <a:custGeom>
              <a:avLst/>
              <a:gdLst/>
              <a:ahLst/>
              <a:cxnLst/>
              <a:rect r="r" b="b" t="t" l="l"/>
              <a:pathLst>
                <a:path h="304982" w="1716246">
                  <a:moveTo>
                    <a:pt x="0" y="0"/>
                  </a:moveTo>
                  <a:lnTo>
                    <a:pt x="1716246" y="0"/>
                  </a:lnTo>
                  <a:lnTo>
                    <a:pt x="1716246" y="304982"/>
                  </a:lnTo>
                  <a:lnTo>
                    <a:pt x="0" y="3049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756" r="0" b="-575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16240" cy="314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118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5522" y="769353"/>
            <a:ext cx="17566272" cy="1294721"/>
            <a:chOff x="0" y="0"/>
            <a:chExt cx="23421696" cy="1726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1701" cy="1726296"/>
            </a:xfrm>
            <a:custGeom>
              <a:avLst/>
              <a:gdLst/>
              <a:ahLst/>
              <a:cxnLst/>
              <a:rect r="r" b="b" t="t" l="l"/>
              <a:pathLst>
                <a:path h="1726296" w="23421701">
                  <a:moveTo>
                    <a:pt x="0" y="0"/>
                  </a:moveTo>
                  <a:lnTo>
                    <a:pt x="23421701" y="0"/>
                  </a:lnTo>
                  <a:lnTo>
                    <a:pt x="23421701" y="1726296"/>
                  </a:lnTo>
                  <a:lnTo>
                    <a:pt x="0" y="17262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0475" r="0" b="-1882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23421696" cy="1611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79"/>
                </a:lnSpc>
              </a:pPr>
              <a:r>
                <a:rPr lang="en-US" b="true" sz="477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2197" y="1793357"/>
            <a:ext cx="17385840" cy="403885"/>
            <a:chOff x="0" y="0"/>
            <a:chExt cx="23181120" cy="53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81125" cy="538511"/>
            </a:xfrm>
            <a:custGeom>
              <a:avLst/>
              <a:gdLst/>
              <a:ahLst/>
              <a:cxnLst/>
              <a:rect r="r" b="b" t="t" l="l"/>
              <a:pathLst>
                <a:path h="538511" w="23181125">
                  <a:moveTo>
                    <a:pt x="0" y="0"/>
                  </a:moveTo>
                  <a:lnTo>
                    <a:pt x="23181125" y="0"/>
                  </a:lnTo>
                  <a:lnTo>
                    <a:pt x="23181125" y="538511"/>
                  </a:lnTo>
                  <a:lnTo>
                    <a:pt x="0" y="5385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4092" r="0" b="-7834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81120" cy="576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8"/>
                </a:lnSpc>
              </a:pPr>
              <a:r>
                <a:rPr lang="en-US" b="true" sz="1929">
                  <a:solidFill>
                    <a:srgbClr val="5F5E5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Class-based navigation with contextual detail panels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2435" y="2419855"/>
            <a:ext cx="8499319" cy="3882352"/>
          </a:xfrm>
          <a:custGeom>
            <a:avLst/>
            <a:gdLst/>
            <a:ahLst/>
            <a:cxnLst/>
            <a:rect r="r" b="b" t="t" l="l"/>
            <a:pathLst>
              <a:path h="3882352" w="8499319">
                <a:moveTo>
                  <a:pt x="0" y="0"/>
                </a:moveTo>
                <a:lnTo>
                  <a:pt x="8499320" y="0"/>
                </a:lnTo>
                <a:lnTo>
                  <a:pt x="8499320" y="3882352"/>
                </a:lnTo>
                <a:lnTo>
                  <a:pt x="0" y="3882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5418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86165" y="2693584"/>
            <a:ext cx="515522" cy="515522"/>
            <a:chOff x="0" y="0"/>
            <a:chExt cx="687362" cy="687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7324" cy="687324"/>
            </a:xfrm>
            <a:custGeom>
              <a:avLst/>
              <a:gdLst/>
              <a:ahLst/>
              <a:cxnLst/>
              <a:rect r="r" b="b" t="t" l="l"/>
              <a:pathLst>
                <a:path h="687324" w="687324">
                  <a:moveTo>
                    <a:pt x="137414" y="0"/>
                  </a:moveTo>
                  <a:lnTo>
                    <a:pt x="549910" y="0"/>
                  </a:lnTo>
                  <a:cubicBezTo>
                    <a:pt x="625729" y="0"/>
                    <a:pt x="687324" y="61595"/>
                    <a:pt x="687324" y="137414"/>
                  </a:cubicBezTo>
                  <a:lnTo>
                    <a:pt x="687324" y="549910"/>
                  </a:lnTo>
                  <a:cubicBezTo>
                    <a:pt x="687324" y="625729"/>
                    <a:pt x="625729" y="687324"/>
                    <a:pt x="549910" y="687324"/>
                  </a:cubicBezTo>
                  <a:lnTo>
                    <a:pt x="137414" y="687324"/>
                  </a:lnTo>
                  <a:cubicBezTo>
                    <a:pt x="61595" y="687324"/>
                    <a:pt x="0" y="625729"/>
                    <a:pt x="0" y="549910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40822" y="2848242"/>
            <a:ext cx="206207" cy="206207"/>
          </a:xfrm>
          <a:custGeom>
            <a:avLst/>
            <a:gdLst/>
            <a:ahLst/>
            <a:cxnLst/>
            <a:rect r="r" b="b" t="t" l="l"/>
            <a:pathLst>
              <a:path h="206207" w="206207">
                <a:moveTo>
                  <a:pt x="0" y="0"/>
                </a:moveTo>
                <a:lnTo>
                  <a:pt x="206207" y="0"/>
                </a:lnTo>
                <a:lnTo>
                  <a:pt x="206207" y="206206"/>
                </a:lnTo>
                <a:lnTo>
                  <a:pt x="0" y="206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56334" y="2751858"/>
            <a:ext cx="2680051" cy="416077"/>
            <a:chOff x="0" y="0"/>
            <a:chExt cx="3573401" cy="5547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73395" cy="554766"/>
            </a:xfrm>
            <a:custGeom>
              <a:avLst/>
              <a:gdLst/>
              <a:ahLst/>
              <a:cxnLst/>
              <a:rect r="r" b="b" t="t" l="l"/>
              <a:pathLst>
                <a:path h="554766" w="3573395">
                  <a:moveTo>
                    <a:pt x="0" y="0"/>
                  </a:moveTo>
                  <a:lnTo>
                    <a:pt x="3573395" y="0"/>
                  </a:lnTo>
                  <a:lnTo>
                    <a:pt x="3573395" y="554766"/>
                  </a:lnTo>
                  <a:lnTo>
                    <a:pt x="0" y="5547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013" r="21615" b="-417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573401" cy="611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2"/>
                </a:lnSpc>
              </a:pPr>
              <a:r>
                <a:rPr lang="en-US" b="true" sz="2029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 Navigation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1940" y="4700421"/>
            <a:ext cx="7926086" cy="618620"/>
            <a:chOff x="0" y="0"/>
            <a:chExt cx="10568114" cy="8248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68051" cy="824738"/>
            </a:xfrm>
            <a:custGeom>
              <a:avLst/>
              <a:gdLst/>
              <a:ahLst/>
              <a:cxnLst/>
              <a:rect r="r" b="b" t="t" l="l"/>
              <a:pathLst>
                <a:path h="824738" w="10568051">
                  <a:moveTo>
                    <a:pt x="68707" y="0"/>
                  </a:moveTo>
                  <a:lnTo>
                    <a:pt x="10430637" y="0"/>
                  </a:lnTo>
                  <a:cubicBezTo>
                    <a:pt x="10506583" y="0"/>
                    <a:pt x="10568051" y="61595"/>
                    <a:pt x="10568051" y="137414"/>
                  </a:cubicBezTo>
                  <a:lnTo>
                    <a:pt x="10568051" y="687324"/>
                  </a:lnTo>
                  <a:cubicBezTo>
                    <a:pt x="10568051" y="763270"/>
                    <a:pt x="10506456" y="824738"/>
                    <a:pt x="10430637" y="824738"/>
                  </a:cubicBezTo>
                  <a:lnTo>
                    <a:pt x="68707" y="824738"/>
                  </a:lnTo>
                  <a:cubicBezTo>
                    <a:pt x="30734" y="824865"/>
                    <a:pt x="0" y="794004"/>
                    <a:pt x="0" y="756031"/>
                  </a:cubicBezTo>
                  <a:lnTo>
                    <a:pt x="0" y="68707"/>
                  </a:lnTo>
                  <a:cubicBezTo>
                    <a:pt x="0" y="30861"/>
                    <a:pt x="30861" y="0"/>
                    <a:pt x="68707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11940" y="4693406"/>
            <a:ext cx="51549" cy="618620"/>
            <a:chOff x="0" y="0"/>
            <a:chExt cx="68732" cy="8248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707" cy="824865"/>
            </a:xfrm>
            <a:custGeom>
              <a:avLst/>
              <a:gdLst/>
              <a:ahLst/>
              <a:cxnLst/>
              <a:rect r="r" b="b" t="t" l="l"/>
              <a:pathLst>
                <a:path h="824865" w="68707">
                  <a:moveTo>
                    <a:pt x="68707" y="0"/>
                  </a:moveTo>
                  <a:lnTo>
                    <a:pt x="68707" y="824865"/>
                  </a:lnTo>
                  <a:cubicBezTo>
                    <a:pt x="30734" y="824865"/>
                    <a:pt x="0" y="794004"/>
                    <a:pt x="0" y="756031"/>
                  </a:cubicBezTo>
                  <a:lnTo>
                    <a:pt x="0" y="68707"/>
                  </a:lnTo>
                  <a:cubicBezTo>
                    <a:pt x="0" y="30861"/>
                    <a:pt x="30861" y="0"/>
                    <a:pt x="68707" y="0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2372" y="4874381"/>
            <a:ext cx="1143719" cy="332876"/>
            <a:chOff x="0" y="0"/>
            <a:chExt cx="1524959" cy="4438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957" cy="443828"/>
            </a:xfrm>
            <a:custGeom>
              <a:avLst/>
              <a:gdLst/>
              <a:ahLst/>
              <a:cxnLst/>
              <a:rect r="r" b="b" t="t" l="l"/>
              <a:pathLst>
                <a:path h="443828" w="1524957">
                  <a:moveTo>
                    <a:pt x="0" y="0"/>
                  </a:moveTo>
                  <a:lnTo>
                    <a:pt x="1524957" y="0"/>
                  </a:lnTo>
                  <a:lnTo>
                    <a:pt x="1524957" y="443828"/>
                  </a:lnTo>
                  <a:lnTo>
                    <a:pt x="0" y="4438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57" t="0" r="32058" b="70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524959" cy="50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1"/>
                </a:lnSpc>
              </a:pPr>
              <a:r>
                <a:rPr lang="en-US" sz="1623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Course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51994" y="4855073"/>
            <a:ext cx="863489" cy="309315"/>
            <a:chOff x="0" y="0"/>
            <a:chExt cx="1151318" cy="4124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1255" cy="412369"/>
            </a:xfrm>
            <a:custGeom>
              <a:avLst/>
              <a:gdLst/>
              <a:ahLst/>
              <a:cxnLst/>
              <a:rect r="r" b="b" t="t" l="l"/>
              <a:pathLst>
                <a:path h="412369" w="1151255">
                  <a:moveTo>
                    <a:pt x="68707" y="0"/>
                  </a:moveTo>
                  <a:lnTo>
                    <a:pt x="1082548" y="0"/>
                  </a:lnTo>
                  <a:cubicBezTo>
                    <a:pt x="1120521" y="0"/>
                    <a:pt x="1151255" y="30734"/>
                    <a:pt x="1151255" y="68707"/>
                  </a:cubicBezTo>
                  <a:lnTo>
                    <a:pt x="1151255" y="343662"/>
                  </a:lnTo>
                  <a:cubicBezTo>
                    <a:pt x="1151255" y="381635"/>
                    <a:pt x="1120521" y="412369"/>
                    <a:pt x="1082548" y="412369"/>
                  </a:cubicBezTo>
                  <a:lnTo>
                    <a:pt x="68707" y="412369"/>
                  </a:lnTo>
                  <a:cubicBezTo>
                    <a:pt x="30861" y="412369"/>
                    <a:pt x="0" y="381635"/>
                    <a:pt x="0" y="343662"/>
                  </a:cubicBezTo>
                  <a:lnTo>
                    <a:pt x="0" y="68707"/>
                  </a:lnTo>
                  <a:cubicBezTo>
                    <a:pt x="0" y="30734"/>
                    <a:pt x="30734" y="0"/>
                    <a:pt x="68707" y="0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718669" y="4855078"/>
            <a:ext cx="940822" cy="309311"/>
            <a:chOff x="0" y="0"/>
            <a:chExt cx="1254430" cy="41241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4428" cy="412408"/>
            </a:xfrm>
            <a:custGeom>
              <a:avLst/>
              <a:gdLst/>
              <a:ahLst/>
              <a:cxnLst/>
              <a:rect r="r" b="b" t="t" l="l"/>
              <a:pathLst>
                <a:path h="412408" w="1254428">
                  <a:moveTo>
                    <a:pt x="0" y="0"/>
                  </a:moveTo>
                  <a:lnTo>
                    <a:pt x="1254428" y="0"/>
                  </a:lnTo>
                  <a:lnTo>
                    <a:pt x="1254428" y="412408"/>
                  </a:lnTo>
                  <a:lnTo>
                    <a:pt x="0" y="4124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6" r="0" b="-926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54430" cy="43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Key Class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6165" y="3582829"/>
            <a:ext cx="7951861" cy="824827"/>
            <a:chOff x="0" y="0"/>
            <a:chExt cx="10602481" cy="10997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2468" cy="1099693"/>
            </a:xfrm>
            <a:custGeom>
              <a:avLst/>
              <a:gdLst/>
              <a:ahLst/>
              <a:cxnLst/>
              <a:rect r="r" b="b" t="t" l="l"/>
              <a:pathLst>
                <a:path h="1099693" w="10602468">
                  <a:moveTo>
                    <a:pt x="137414" y="0"/>
                  </a:moveTo>
                  <a:lnTo>
                    <a:pt x="10465054" y="0"/>
                  </a:lnTo>
                  <a:cubicBezTo>
                    <a:pt x="10541000" y="0"/>
                    <a:pt x="10602468" y="61595"/>
                    <a:pt x="10602468" y="137414"/>
                  </a:cubicBezTo>
                  <a:lnTo>
                    <a:pt x="10602468" y="962279"/>
                  </a:lnTo>
                  <a:cubicBezTo>
                    <a:pt x="10602468" y="1038225"/>
                    <a:pt x="10540873" y="1099693"/>
                    <a:pt x="10465054" y="1099693"/>
                  </a:cubicBezTo>
                  <a:lnTo>
                    <a:pt x="137414" y="1099693"/>
                  </a:lnTo>
                  <a:cubicBezTo>
                    <a:pt x="61595" y="1099820"/>
                    <a:pt x="0" y="1038225"/>
                    <a:pt x="0" y="962279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0822" y="3737477"/>
            <a:ext cx="7732766" cy="295060"/>
            <a:chOff x="0" y="0"/>
            <a:chExt cx="10310355" cy="3934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10360" cy="393416"/>
            </a:xfrm>
            <a:custGeom>
              <a:avLst/>
              <a:gdLst/>
              <a:ahLst/>
              <a:cxnLst/>
              <a:rect r="r" b="b" t="t" l="l"/>
              <a:pathLst>
                <a:path h="393416" w="10310360">
                  <a:moveTo>
                    <a:pt x="0" y="0"/>
                  </a:moveTo>
                  <a:lnTo>
                    <a:pt x="10310360" y="0"/>
                  </a:lnTo>
                  <a:lnTo>
                    <a:pt x="10310360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6970" r="0" b="-4543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310355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Suggested Start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0822" y="4046792"/>
            <a:ext cx="7719879" cy="251071"/>
            <a:chOff x="0" y="0"/>
            <a:chExt cx="10293172" cy="3347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93176" cy="334761"/>
            </a:xfrm>
            <a:custGeom>
              <a:avLst/>
              <a:gdLst/>
              <a:ahLst/>
              <a:cxnLst/>
              <a:rect r="r" b="b" t="t" l="l"/>
              <a:pathLst>
                <a:path h="334761" w="10293176">
                  <a:moveTo>
                    <a:pt x="0" y="0"/>
                  </a:moveTo>
                  <a:lnTo>
                    <a:pt x="10293176" y="0"/>
                  </a:lnTo>
                  <a:lnTo>
                    <a:pt x="10293176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8056" r="0" b="-5401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293172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Highlight entry classes, classes used in structures, and classes with mandatory properties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63467" y="6923909"/>
            <a:ext cx="8499319" cy="2677605"/>
          </a:xfrm>
          <a:custGeom>
            <a:avLst/>
            <a:gdLst/>
            <a:ahLst/>
            <a:cxnLst/>
            <a:rect r="r" b="b" t="t" l="l"/>
            <a:pathLst>
              <a:path h="2677605" w="8499319">
                <a:moveTo>
                  <a:pt x="0" y="0"/>
                </a:moveTo>
                <a:lnTo>
                  <a:pt x="8499320" y="0"/>
                </a:lnTo>
                <a:lnTo>
                  <a:pt x="8499320" y="2677605"/>
                </a:lnTo>
                <a:lnTo>
                  <a:pt x="0" y="2677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9614" t="0" r="-29614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37197" y="7197639"/>
            <a:ext cx="515522" cy="515522"/>
            <a:chOff x="0" y="0"/>
            <a:chExt cx="687362" cy="6873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7324" cy="687324"/>
            </a:xfrm>
            <a:custGeom>
              <a:avLst/>
              <a:gdLst/>
              <a:ahLst/>
              <a:cxnLst/>
              <a:rect r="r" b="b" t="t" l="l"/>
              <a:pathLst>
                <a:path h="687324" w="687324">
                  <a:moveTo>
                    <a:pt x="137414" y="0"/>
                  </a:moveTo>
                  <a:lnTo>
                    <a:pt x="549910" y="0"/>
                  </a:lnTo>
                  <a:cubicBezTo>
                    <a:pt x="625729" y="0"/>
                    <a:pt x="687324" y="61595"/>
                    <a:pt x="687324" y="137414"/>
                  </a:cubicBezTo>
                  <a:lnTo>
                    <a:pt x="687324" y="549910"/>
                  </a:lnTo>
                  <a:cubicBezTo>
                    <a:pt x="687324" y="625729"/>
                    <a:pt x="625729" y="687324"/>
                    <a:pt x="549910" y="687324"/>
                  </a:cubicBezTo>
                  <a:lnTo>
                    <a:pt x="137414" y="687324"/>
                  </a:lnTo>
                  <a:cubicBezTo>
                    <a:pt x="61595" y="687324"/>
                    <a:pt x="0" y="625729"/>
                    <a:pt x="0" y="549910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E1F5E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91854" y="7352296"/>
            <a:ext cx="206207" cy="206207"/>
            <a:chOff x="0" y="0"/>
            <a:chExt cx="274942" cy="27494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-29" y="34290"/>
              <a:ext cx="275045" cy="240726"/>
            </a:xfrm>
            <a:custGeom>
              <a:avLst/>
              <a:gdLst/>
              <a:ahLst/>
              <a:cxnLst/>
              <a:rect r="r" b="b" t="t" l="l"/>
              <a:pathLst>
                <a:path h="240726" w="275045">
                  <a:moveTo>
                    <a:pt x="17174" y="127"/>
                  </a:moveTo>
                  <a:cubicBezTo>
                    <a:pt x="10189" y="127"/>
                    <a:pt x="3966" y="4318"/>
                    <a:pt x="1299" y="10795"/>
                  </a:cubicBezTo>
                  <a:cubicBezTo>
                    <a:pt x="-1368" y="17272"/>
                    <a:pt x="156" y="24511"/>
                    <a:pt x="5109" y="29337"/>
                  </a:cubicBezTo>
                  <a:lnTo>
                    <a:pt x="103153" y="127508"/>
                  </a:lnTo>
                  <a:lnTo>
                    <a:pt x="103153" y="189103"/>
                  </a:lnTo>
                  <a:cubicBezTo>
                    <a:pt x="103153" y="193675"/>
                    <a:pt x="104931" y="197993"/>
                    <a:pt x="108233" y="201295"/>
                  </a:cubicBezTo>
                  <a:lnTo>
                    <a:pt x="142650" y="235712"/>
                  </a:lnTo>
                  <a:cubicBezTo>
                    <a:pt x="147603" y="240665"/>
                    <a:pt x="154969" y="242062"/>
                    <a:pt x="161446" y="239395"/>
                  </a:cubicBezTo>
                  <a:cubicBezTo>
                    <a:pt x="167923" y="236728"/>
                    <a:pt x="171987" y="230505"/>
                    <a:pt x="171987" y="223520"/>
                  </a:cubicBezTo>
                  <a:lnTo>
                    <a:pt x="171987" y="127508"/>
                  </a:lnTo>
                  <a:lnTo>
                    <a:pt x="270031" y="29464"/>
                  </a:lnTo>
                  <a:cubicBezTo>
                    <a:pt x="274984" y="24511"/>
                    <a:pt x="276381" y="17145"/>
                    <a:pt x="273714" y="10668"/>
                  </a:cubicBezTo>
                  <a:cubicBezTo>
                    <a:pt x="271047" y="4191"/>
                    <a:pt x="264824" y="0"/>
                    <a:pt x="257839" y="0"/>
                  </a:cubicBezTo>
                  <a:lnTo>
                    <a:pt x="17174" y="0"/>
                  </a:lnTo>
                  <a:close/>
                </a:path>
              </a:pathLst>
            </a:custGeom>
            <a:solidFill>
              <a:srgbClr val="08504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07366" y="7274963"/>
            <a:ext cx="1263015" cy="416077"/>
            <a:chOff x="0" y="0"/>
            <a:chExt cx="1684020" cy="5547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84026" cy="554766"/>
            </a:xfrm>
            <a:custGeom>
              <a:avLst/>
              <a:gdLst/>
              <a:ahLst/>
              <a:cxnLst/>
              <a:rect r="r" b="b" t="t" l="l"/>
              <a:pathLst>
                <a:path h="554766" w="1684026">
                  <a:moveTo>
                    <a:pt x="0" y="0"/>
                  </a:moveTo>
                  <a:lnTo>
                    <a:pt x="1684026" y="0"/>
                  </a:lnTo>
                  <a:lnTo>
                    <a:pt x="1684026" y="554766"/>
                  </a:lnTo>
                  <a:lnTo>
                    <a:pt x="0" y="5547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82" r="0" b="-25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684020" cy="611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2"/>
                </a:lnSpc>
              </a:pPr>
              <a:r>
                <a:rPr lang="en-US" b="true" sz="2029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Filter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7197" y="7919367"/>
            <a:ext cx="1482119" cy="412413"/>
            <a:chOff x="0" y="0"/>
            <a:chExt cx="1976158" cy="5498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76120" cy="549910"/>
            </a:xfrm>
            <a:custGeom>
              <a:avLst/>
              <a:gdLst/>
              <a:ahLst/>
              <a:cxnLst/>
              <a:rect r="r" b="b" t="t" l="l"/>
              <a:pathLst>
                <a:path h="549910" w="1976120">
                  <a:moveTo>
                    <a:pt x="274955" y="0"/>
                  </a:moveTo>
                  <a:lnTo>
                    <a:pt x="1701165" y="0"/>
                  </a:lnTo>
                  <a:cubicBezTo>
                    <a:pt x="1853057" y="0"/>
                    <a:pt x="1976120" y="123063"/>
                    <a:pt x="1976120" y="274955"/>
                  </a:cubicBezTo>
                  <a:cubicBezTo>
                    <a:pt x="1976120" y="426847"/>
                    <a:pt x="1853057" y="549910"/>
                    <a:pt x="1701165" y="549910"/>
                  </a:cubicBezTo>
                  <a:lnTo>
                    <a:pt x="274955" y="549910"/>
                  </a:lnTo>
                  <a:cubicBezTo>
                    <a:pt x="123190" y="549910"/>
                    <a:pt x="0" y="426720"/>
                    <a:pt x="0" y="274955"/>
                  </a:cubicBezTo>
                  <a:cubicBezTo>
                    <a:pt x="0" y="123190"/>
                    <a:pt x="123190" y="0"/>
                    <a:pt x="274955" y="0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7197" y="7919367"/>
            <a:ext cx="1572330" cy="412414"/>
            <a:chOff x="0" y="0"/>
            <a:chExt cx="2096440" cy="54988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96440" cy="549887"/>
            </a:xfrm>
            <a:custGeom>
              <a:avLst/>
              <a:gdLst/>
              <a:ahLst/>
              <a:cxnLst/>
              <a:rect r="r" b="b" t="t" l="l"/>
              <a:pathLst>
                <a:path h="549887" w="2096440">
                  <a:moveTo>
                    <a:pt x="0" y="0"/>
                  </a:moveTo>
                  <a:lnTo>
                    <a:pt x="2096440" y="0"/>
                  </a:lnTo>
                  <a:lnTo>
                    <a:pt x="2096440" y="549887"/>
                  </a:lnTo>
                  <a:lnTo>
                    <a:pt x="0" y="5498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286" r="0" b="-2428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096440" cy="578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Important First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323024" y="7919367"/>
            <a:ext cx="1572330" cy="412413"/>
            <a:chOff x="0" y="0"/>
            <a:chExt cx="2096440" cy="54988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96389" cy="549910"/>
            </a:xfrm>
            <a:custGeom>
              <a:avLst/>
              <a:gdLst/>
              <a:ahLst/>
              <a:cxnLst/>
              <a:rect r="r" b="b" t="t" l="l"/>
              <a:pathLst>
                <a:path h="549910" w="2096389">
                  <a:moveTo>
                    <a:pt x="274955" y="0"/>
                  </a:moveTo>
                  <a:lnTo>
                    <a:pt x="1821434" y="0"/>
                  </a:lnTo>
                  <a:cubicBezTo>
                    <a:pt x="1973326" y="0"/>
                    <a:pt x="2096389" y="123063"/>
                    <a:pt x="2096389" y="274955"/>
                  </a:cubicBezTo>
                  <a:cubicBezTo>
                    <a:pt x="2096389" y="426847"/>
                    <a:pt x="1973326" y="549910"/>
                    <a:pt x="1821434" y="549910"/>
                  </a:cubicBezTo>
                  <a:lnTo>
                    <a:pt x="274955" y="549910"/>
                  </a:lnTo>
                  <a:cubicBezTo>
                    <a:pt x="123190" y="549910"/>
                    <a:pt x="0" y="426720"/>
                    <a:pt x="0" y="274955"/>
                  </a:cubicBezTo>
                  <a:cubicBezTo>
                    <a:pt x="0" y="123190"/>
                    <a:pt x="123190" y="0"/>
                    <a:pt x="274955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323024" y="7919367"/>
            <a:ext cx="1662551" cy="412414"/>
            <a:chOff x="0" y="0"/>
            <a:chExt cx="2216734" cy="54988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6728" cy="549887"/>
            </a:xfrm>
            <a:custGeom>
              <a:avLst/>
              <a:gdLst/>
              <a:ahLst/>
              <a:cxnLst/>
              <a:rect r="r" b="b" t="t" l="l"/>
              <a:pathLst>
                <a:path h="549887" w="2216728">
                  <a:moveTo>
                    <a:pt x="0" y="0"/>
                  </a:moveTo>
                  <a:lnTo>
                    <a:pt x="2216728" y="0"/>
                  </a:lnTo>
                  <a:lnTo>
                    <a:pt x="2216728" y="549887"/>
                  </a:lnTo>
                  <a:lnTo>
                    <a:pt x="0" y="5498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549" r="0" b="-2854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216734" cy="578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Mandatory Only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136385" y="7951861"/>
            <a:ext cx="1543328" cy="412413"/>
            <a:chOff x="0" y="0"/>
            <a:chExt cx="2057771" cy="54988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57757" cy="549910"/>
            </a:xfrm>
            <a:custGeom>
              <a:avLst/>
              <a:gdLst/>
              <a:ahLst/>
              <a:cxnLst/>
              <a:rect r="r" b="b" t="t" l="l"/>
              <a:pathLst>
                <a:path h="549910" w="2057757">
                  <a:moveTo>
                    <a:pt x="304869" y="0"/>
                  </a:moveTo>
                  <a:lnTo>
                    <a:pt x="1752889" y="0"/>
                  </a:lnTo>
                  <a:cubicBezTo>
                    <a:pt x="1921306" y="0"/>
                    <a:pt x="2057757" y="123063"/>
                    <a:pt x="2057757" y="274955"/>
                  </a:cubicBezTo>
                  <a:cubicBezTo>
                    <a:pt x="2057757" y="426847"/>
                    <a:pt x="1921306" y="549910"/>
                    <a:pt x="1752889" y="549910"/>
                  </a:cubicBezTo>
                  <a:lnTo>
                    <a:pt x="304869" y="549910"/>
                  </a:lnTo>
                  <a:cubicBezTo>
                    <a:pt x="136592" y="549910"/>
                    <a:pt x="0" y="426720"/>
                    <a:pt x="0" y="274955"/>
                  </a:cubicBezTo>
                  <a:cubicBezTo>
                    <a:pt x="0" y="123190"/>
                    <a:pt x="136592" y="0"/>
                    <a:pt x="304869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271027" y="7909841"/>
            <a:ext cx="1380111" cy="412414"/>
            <a:chOff x="0" y="0"/>
            <a:chExt cx="1840149" cy="54988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40143" cy="549887"/>
            </a:xfrm>
            <a:custGeom>
              <a:avLst/>
              <a:gdLst/>
              <a:ahLst/>
              <a:cxnLst/>
              <a:rect r="r" b="b" t="t" l="l"/>
              <a:pathLst>
                <a:path h="549887" w="1840143">
                  <a:moveTo>
                    <a:pt x="0" y="0"/>
                  </a:moveTo>
                  <a:lnTo>
                    <a:pt x="1840143" y="0"/>
                  </a:lnTo>
                  <a:lnTo>
                    <a:pt x="1840143" y="549887"/>
                  </a:lnTo>
                  <a:lnTo>
                    <a:pt x="0" y="5498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24" r="-7391" b="-2002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840149" cy="578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Optional Only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747444" y="7919367"/>
            <a:ext cx="1396265" cy="412413"/>
            <a:chOff x="0" y="0"/>
            <a:chExt cx="1861687" cy="54988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1641" cy="549910"/>
            </a:xfrm>
            <a:custGeom>
              <a:avLst/>
              <a:gdLst/>
              <a:ahLst/>
              <a:cxnLst/>
              <a:rect r="r" b="b" t="t" l="l"/>
              <a:pathLst>
                <a:path h="549910" w="1861641">
                  <a:moveTo>
                    <a:pt x="334700" y="0"/>
                  </a:moveTo>
                  <a:lnTo>
                    <a:pt x="1526941" y="0"/>
                  </a:lnTo>
                  <a:cubicBezTo>
                    <a:pt x="1711838" y="0"/>
                    <a:pt x="1861641" y="123063"/>
                    <a:pt x="1861641" y="274955"/>
                  </a:cubicBezTo>
                  <a:cubicBezTo>
                    <a:pt x="1861641" y="426847"/>
                    <a:pt x="1711838" y="549910"/>
                    <a:pt x="1526941" y="549910"/>
                  </a:cubicBezTo>
                  <a:lnTo>
                    <a:pt x="334700" y="549910"/>
                  </a:lnTo>
                  <a:cubicBezTo>
                    <a:pt x="149958" y="549910"/>
                    <a:pt x="0" y="426720"/>
                    <a:pt x="0" y="274955"/>
                  </a:cubicBezTo>
                  <a:cubicBezTo>
                    <a:pt x="0" y="123190"/>
                    <a:pt x="149958" y="0"/>
                    <a:pt x="334700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936592" y="7909841"/>
            <a:ext cx="1132270" cy="412414"/>
            <a:chOff x="0" y="0"/>
            <a:chExt cx="1509694" cy="54988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09698" cy="549887"/>
            </a:xfrm>
            <a:custGeom>
              <a:avLst/>
              <a:gdLst/>
              <a:ahLst/>
              <a:cxnLst/>
              <a:rect r="r" b="b" t="t" l="l"/>
              <a:pathLst>
                <a:path h="549887" w="1509698">
                  <a:moveTo>
                    <a:pt x="0" y="0"/>
                  </a:moveTo>
                  <a:lnTo>
                    <a:pt x="1509698" y="0"/>
                  </a:lnTo>
                  <a:lnTo>
                    <a:pt x="1509698" y="549887"/>
                  </a:lnTo>
                  <a:lnTo>
                    <a:pt x="0" y="5498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-9270" b="-84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509694" cy="578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Literal Only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271595" y="7890786"/>
            <a:ext cx="1495006" cy="412413"/>
            <a:chOff x="0" y="0"/>
            <a:chExt cx="1993341" cy="5498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93392" cy="549910"/>
            </a:xfrm>
            <a:custGeom>
              <a:avLst/>
              <a:gdLst/>
              <a:ahLst/>
              <a:cxnLst/>
              <a:rect r="r" b="b" t="t" l="l"/>
              <a:pathLst>
                <a:path h="549910" w="1993392">
                  <a:moveTo>
                    <a:pt x="274955" y="0"/>
                  </a:moveTo>
                  <a:lnTo>
                    <a:pt x="1718437" y="0"/>
                  </a:lnTo>
                  <a:cubicBezTo>
                    <a:pt x="1870329" y="0"/>
                    <a:pt x="1993392" y="123063"/>
                    <a:pt x="1993392" y="274955"/>
                  </a:cubicBezTo>
                  <a:cubicBezTo>
                    <a:pt x="1993392" y="426847"/>
                    <a:pt x="1870202" y="549910"/>
                    <a:pt x="1718437" y="549910"/>
                  </a:cubicBezTo>
                  <a:lnTo>
                    <a:pt x="274955" y="549910"/>
                  </a:lnTo>
                  <a:cubicBezTo>
                    <a:pt x="123190" y="549910"/>
                    <a:pt x="0" y="426720"/>
                    <a:pt x="0" y="274955"/>
                  </a:cubicBezTo>
                  <a:cubicBezTo>
                    <a:pt x="0" y="123190"/>
                    <a:pt x="123190" y="0"/>
                    <a:pt x="274955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601264" y="7884056"/>
            <a:ext cx="1165337" cy="412414"/>
            <a:chOff x="0" y="0"/>
            <a:chExt cx="1553782" cy="54988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53783" cy="549887"/>
            </a:xfrm>
            <a:custGeom>
              <a:avLst/>
              <a:gdLst/>
              <a:ahLst/>
              <a:cxnLst/>
              <a:rect r="r" b="b" t="t" l="l"/>
              <a:pathLst>
                <a:path h="549887" w="1553783">
                  <a:moveTo>
                    <a:pt x="0" y="0"/>
                  </a:moveTo>
                  <a:lnTo>
                    <a:pt x="1553783" y="0"/>
                  </a:lnTo>
                  <a:lnTo>
                    <a:pt x="1553783" y="549887"/>
                  </a:lnTo>
                  <a:lnTo>
                    <a:pt x="0" y="5498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895" r="-36030" b="-2489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553782" cy="578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Show All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9267587" y="2419855"/>
            <a:ext cx="8499319" cy="3408578"/>
          </a:xfrm>
          <a:custGeom>
            <a:avLst/>
            <a:gdLst/>
            <a:ahLst/>
            <a:cxnLst/>
            <a:rect r="r" b="b" t="t" l="l"/>
            <a:pathLst>
              <a:path h="3408578" w="8499319">
                <a:moveTo>
                  <a:pt x="0" y="0"/>
                </a:moveTo>
                <a:lnTo>
                  <a:pt x="8499319" y="0"/>
                </a:lnTo>
                <a:lnTo>
                  <a:pt x="8499319" y="3408578"/>
                </a:lnTo>
                <a:lnTo>
                  <a:pt x="0" y="3408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9541307" y="2693584"/>
            <a:ext cx="515522" cy="515522"/>
            <a:chOff x="0" y="0"/>
            <a:chExt cx="687362" cy="68736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7324" cy="687324"/>
            </a:xfrm>
            <a:custGeom>
              <a:avLst/>
              <a:gdLst/>
              <a:ahLst/>
              <a:cxnLst/>
              <a:rect r="r" b="b" t="t" l="l"/>
              <a:pathLst>
                <a:path h="687324" w="687324">
                  <a:moveTo>
                    <a:pt x="137414" y="0"/>
                  </a:moveTo>
                  <a:lnTo>
                    <a:pt x="549910" y="0"/>
                  </a:lnTo>
                  <a:cubicBezTo>
                    <a:pt x="625729" y="0"/>
                    <a:pt x="687324" y="61595"/>
                    <a:pt x="687324" y="137414"/>
                  </a:cubicBezTo>
                  <a:lnTo>
                    <a:pt x="687324" y="549910"/>
                  </a:lnTo>
                  <a:cubicBezTo>
                    <a:pt x="687324" y="625729"/>
                    <a:pt x="625729" y="687324"/>
                    <a:pt x="549910" y="687324"/>
                  </a:cubicBezTo>
                  <a:lnTo>
                    <a:pt x="137414" y="687324"/>
                  </a:lnTo>
                  <a:cubicBezTo>
                    <a:pt x="61595" y="687324"/>
                    <a:pt x="0" y="625729"/>
                    <a:pt x="0" y="549910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FAEEDA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9708852" y="2848242"/>
            <a:ext cx="180432" cy="206207"/>
          </a:xfrm>
          <a:custGeom>
            <a:avLst/>
            <a:gdLst/>
            <a:ahLst/>
            <a:cxnLst/>
            <a:rect r="r" b="b" t="t" l="l"/>
            <a:pathLst>
              <a:path h="206207" w="180432">
                <a:moveTo>
                  <a:pt x="0" y="0"/>
                </a:moveTo>
                <a:lnTo>
                  <a:pt x="180432" y="0"/>
                </a:lnTo>
                <a:lnTo>
                  <a:pt x="180432" y="206206"/>
                </a:lnTo>
                <a:lnTo>
                  <a:pt x="0" y="2062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0211486" y="2751858"/>
            <a:ext cx="3029745" cy="416077"/>
            <a:chOff x="0" y="0"/>
            <a:chExt cx="4039659" cy="5547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039663" cy="554766"/>
            </a:xfrm>
            <a:custGeom>
              <a:avLst/>
              <a:gdLst/>
              <a:ahLst/>
              <a:cxnLst/>
              <a:rect r="r" b="b" t="t" l="l"/>
              <a:pathLst>
                <a:path h="554766" w="4039663">
                  <a:moveTo>
                    <a:pt x="0" y="0"/>
                  </a:moveTo>
                  <a:lnTo>
                    <a:pt x="4039663" y="0"/>
                  </a:lnTo>
                  <a:lnTo>
                    <a:pt x="4039663" y="554766"/>
                  </a:lnTo>
                  <a:lnTo>
                    <a:pt x="0" y="5547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338" r="39596" b="-2906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4039659" cy="611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2"/>
                </a:lnSpc>
              </a:pPr>
              <a:r>
                <a:rPr lang="en-US" b="true" sz="2029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Property Rows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41307" y="3415303"/>
            <a:ext cx="7951861" cy="1134142"/>
            <a:chOff x="0" y="0"/>
            <a:chExt cx="10602481" cy="151218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02468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602468">
                  <a:moveTo>
                    <a:pt x="137414" y="0"/>
                  </a:moveTo>
                  <a:lnTo>
                    <a:pt x="10465054" y="0"/>
                  </a:lnTo>
                  <a:cubicBezTo>
                    <a:pt x="10541000" y="0"/>
                    <a:pt x="10602468" y="61595"/>
                    <a:pt x="10602468" y="137414"/>
                  </a:cubicBezTo>
                  <a:lnTo>
                    <a:pt x="10602468" y="1374648"/>
                  </a:lnTo>
                  <a:cubicBezTo>
                    <a:pt x="10602468" y="1450594"/>
                    <a:pt x="10540873" y="1512062"/>
                    <a:pt x="10465054" y="1512062"/>
                  </a:cubicBezTo>
                  <a:lnTo>
                    <a:pt x="137414" y="1512062"/>
                  </a:lnTo>
                  <a:cubicBezTo>
                    <a:pt x="61595" y="1512189"/>
                    <a:pt x="0" y="1450594"/>
                    <a:pt x="0" y="1374775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95964" y="3569960"/>
            <a:ext cx="7732766" cy="295060"/>
            <a:chOff x="0" y="0"/>
            <a:chExt cx="10310355" cy="39341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310360" cy="393416"/>
            </a:xfrm>
            <a:custGeom>
              <a:avLst/>
              <a:gdLst/>
              <a:ahLst/>
              <a:cxnLst/>
              <a:rect r="r" b="b" t="t" l="l"/>
              <a:pathLst>
                <a:path h="393416" w="10310360">
                  <a:moveTo>
                    <a:pt x="0" y="0"/>
                  </a:moveTo>
                  <a:lnTo>
                    <a:pt x="10310360" y="0"/>
                  </a:lnTo>
                  <a:lnTo>
                    <a:pt x="10310360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6970" r="0" b="-45432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0310355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Required Properties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95964" y="3930825"/>
            <a:ext cx="1907419" cy="251071"/>
            <a:chOff x="0" y="0"/>
            <a:chExt cx="2543226" cy="3347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course_code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633387" y="3930825"/>
            <a:ext cx="1907419" cy="251071"/>
            <a:chOff x="0" y="0"/>
            <a:chExt cx="2543226" cy="33476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1..1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570810" y="3930825"/>
            <a:ext cx="1907419" cy="251071"/>
            <a:chOff x="0" y="0"/>
            <a:chExt cx="2543226" cy="33476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mandatory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508234" y="3930825"/>
            <a:ext cx="1907419" cy="251071"/>
            <a:chOff x="0" y="0"/>
            <a:chExt cx="2543226" cy="33476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local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95964" y="4188581"/>
            <a:ext cx="1907419" cy="251071"/>
            <a:chOff x="0" y="0"/>
            <a:chExt cx="2543226" cy="33476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course_name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633387" y="4188581"/>
            <a:ext cx="1907419" cy="251071"/>
            <a:chOff x="0" y="0"/>
            <a:chExt cx="2543226" cy="3347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1..1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570810" y="4188581"/>
            <a:ext cx="1907419" cy="251071"/>
            <a:chOff x="0" y="0"/>
            <a:chExt cx="2543226" cy="33476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mandatory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508234" y="4188581"/>
            <a:ext cx="1907419" cy="251071"/>
            <a:chOff x="0" y="0"/>
            <a:chExt cx="2543226" cy="33476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43222" cy="334761"/>
            </a:xfrm>
            <a:custGeom>
              <a:avLst/>
              <a:gdLst/>
              <a:ahLst/>
              <a:cxnLst/>
              <a:rect r="r" b="b" t="t" l="l"/>
              <a:pathLst>
                <a:path h="334761" w="2543222">
                  <a:moveTo>
                    <a:pt x="0" y="0"/>
                  </a:moveTo>
                  <a:lnTo>
                    <a:pt x="2543222" y="0"/>
                  </a:lnTo>
                  <a:lnTo>
                    <a:pt x="2543222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964" r="0" b="-890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2543226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local</a:t>
              </a: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9538230" y="4649467"/>
            <a:ext cx="7958023" cy="908323"/>
          </a:xfrm>
          <a:custGeom>
            <a:avLst/>
            <a:gdLst/>
            <a:ahLst/>
            <a:cxnLst/>
            <a:rect r="r" b="b" t="t" l="l"/>
            <a:pathLst>
              <a:path h="908323" w="7958023">
                <a:moveTo>
                  <a:pt x="0" y="0"/>
                </a:moveTo>
                <a:lnTo>
                  <a:pt x="7958023" y="0"/>
                </a:lnTo>
                <a:lnTo>
                  <a:pt x="7958023" y="908323"/>
                </a:lnTo>
                <a:lnTo>
                  <a:pt x="0" y="908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9708852" y="4820088"/>
            <a:ext cx="7706992" cy="541639"/>
            <a:chOff x="0" y="0"/>
            <a:chExt cx="10275989" cy="72218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275992" cy="722189"/>
            </a:xfrm>
            <a:custGeom>
              <a:avLst/>
              <a:gdLst/>
              <a:ahLst/>
              <a:cxnLst/>
              <a:rect r="r" b="b" t="t" l="l"/>
              <a:pathLst>
                <a:path h="722189" w="10275992">
                  <a:moveTo>
                    <a:pt x="0" y="0"/>
                  </a:moveTo>
                  <a:lnTo>
                    <a:pt x="10275992" y="0"/>
                  </a:lnTo>
                  <a:lnTo>
                    <a:pt x="10275992" y="722189"/>
                  </a:lnTo>
                  <a:lnTo>
                    <a:pt x="0" y="7221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3457" r="0" b="-20104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10275989" cy="75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Sort By: Property Name, Cardinality etc... 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9267587" y="6028477"/>
            <a:ext cx="8499319" cy="4259189"/>
          </a:xfrm>
          <a:custGeom>
            <a:avLst/>
            <a:gdLst/>
            <a:ahLst/>
            <a:cxnLst/>
            <a:rect r="r" b="b" t="t" l="l"/>
            <a:pathLst>
              <a:path h="4259189" w="8499319">
                <a:moveTo>
                  <a:pt x="0" y="0"/>
                </a:moveTo>
                <a:lnTo>
                  <a:pt x="8499319" y="0"/>
                </a:lnTo>
                <a:lnTo>
                  <a:pt x="8499319" y="4259190"/>
                </a:lnTo>
                <a:lnTo>
                  <a:pt x="0" y="42591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9541307" y="6302207"/>
            <a:ext cx="515522" cy="515522"/>
            <a:chOff x="0" y="0"/>
            <a:chExt cx="687362" cy="68736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87324" cy="687324"/>
            </a:xfrm>
            <a:custGeom>
              <a:avLst/>
              <a:gdLst/>
              <a:ahLst/>
              <a:cxnLst/>
              <a:rect r="r" b="b" t="t" l="l"/>
              <a:pathLst>
                <a:path h="687324" w="687324">
                  <a:moveTo>
                    <a:pt x="137414" y="0"/>
                  </a:moveTo>
                  <a:lnTo>
                    <a:pt x="549910" y="0"/>
                  </a:lnTo>
                  <a:cubicBezTo>
                    <a:pt x="625729" y="0"/>
                    <a:pt x="687324" y="61595"/>
                    <a:pt x="687324" y="137414"/>
                  </a:cubicBezTo>
                  <a:lnTo>
                    <a:pt x="687324" y="549910"/>
                  </a:lnTo>
                  <a:cubicBezTo>
                    <a:pt x="687324" y="625729"/>
                    <a:pt x="625729" y="687324"/>
                    <a:pt x="549910" y="687324"/>
                  </a:cubicBezTo>
                  <a:lnTo>
                    <a:pt x="137414" y="687324"/>
                  </a:lnTo>
                  <a:cubicBezTo>
                    <a:pt x="61595" y="687324"/>
                    <a:pt x="0" y="625729"/>
                    <a:pt x="0" y="549910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E6F1FB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9695964" y="6456864"/>
            <a:ext cx="206207" cy="206207"/>
          </a:xfrm>
          <a:custGeom>
            <a:avLst/>
            <a:gdLst/>
            <a:ahLst/>
            <a:cxnLst/>
            <a:rect r="r" b="b" t="t" l="l"/>
            <a:pathLst>
              <a:path h="206207" w="206207">
                <a:moveTo>
                  <a:pt x="0" y="0"/>
                </a:moveTo>
                <a:lnTo>
                  <a:pt x="206207" y="0"/>
                </a:lnTo>
                <a:lnTo>
                  <a:pt x="206207" y="206207"/>
                </a:lnTo>
                <a:lnTo>
                  <a:pt x="0" y="2062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0211486" y="6401652"/>
            <a:ext cx="2655334" cy="416077"/>
            <a:chOff x="0" y="0"/>
            <a:chExt cx="3540446" cy="55476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540449" cy="554766"/>
            </a:xfrm>
            <a:custGeom>
              <a:avLst/>
              <a:gdLst/>
              <a:ahLst/>
              <a:cxnLst/>
              <a:rect r="r" b="b" t="t" l="l"/>
              <a:pathLst>
                <a:path h="554766" w="3540449">
                  <a:moveTo>
                    <a:pt x="0" y="0"/>
                  </a:moveTo>
                  <a:lnTo>
                    <a:pt x="3540449" y="0"/>
                  </a:lnTo>
                  <a:lnTo>
                    <a:pt x="3540449" y="554766"/>
                  </a:lnTo>
                  <a:lnTo>
                    <a:pt x="0" y="5547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788" r="24283" b="-3751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3540446" cy="611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2"/>
                </a:lnSpc>
              </a:pPr>
              <a:r>
                <a:rPr lang="en-US" b="true" sz="2029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Property Details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541307" y="7023935"/>
            <a:ext cx="7951861" cy="2010518"/>
            <a:chOff x="0" y="0"/>
            <a:chExt cx="10602481" cy="268069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602468" cy="2680589"/>
            </a:xfrm>
            <a:custGeom>
              <a:avLst/>
              <a:gdLst/>
              <a:ahLst/>
              <a:cxnLst/>
              <a:rect r="r" b="b" t="t" l="l"/>
              <a:pathLst>
                <a:path h="2680589" w="10602468">
                  <a:moveTo>
                    <a:pt x="137414" y="0"/>
                  </a:moveTo>
                  <a:lnTo>
                    <a:pt x="10465054" y="0"/>
                  </a:lnTo>
                  <a:cubicBezTo>
                    <a:pt x="10541000" y="0"/>
                    <a:pt x="10602468" y="61595"/>
                    <a:pt x="10602468" y="137414"/>
                  </a:cubicBezTo>
                  <a:lnTo>
                    <a:pt x="10602468" y="2543175"/>
                  </a:lnTo>
                  <a:cubicBezTo>
                    <a:pt x="10602468" y="2619121"/>
                    <a:pt x="10540873" y="2680589"/>
                    <a:pt x="10465054" y="2680589"/>
                  </a:cubicBezTo>
                  <a:lnTo>
                    <a:pt x="137414" y="2680589"/>
                  </a:lnTo>
                  <a:cubicBezTo>
                    <a:pt x="61595" y="2680716"/>
                    <a:pt x="0" y="2619121"/>
                    <a:pt x="0" y="2543175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9747523" y="7230142"/>
            <a:ext cx="7642555" cy="332876"/>
            <a:chOff x="0" y="0"/>
            <a:chExt cx="10190074" cy="44383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190072" cy="443828"/>
            </a:xfrm>
            <a:custGeom>
              <a:avLst/>
              <a:gdLst/>
              <a:ahLst/>
              <a:cxnLst/>
              <a:rect r="r" b="b" t="t" l="l"/>
              <a:pathLst>
                <a:path h="443828" w="10190072">
                  <a:moveTo>
                    <a:pt x="0" y="0"/>
                  </a:moveTo>
                  <a:lnTo>
                    <a:pt x="10190072" y="0"/>
                  </a:lnTo>
                  <a:lnTo>
                    <a:pt x="10190072" y="443828"/>
                  </a:lnTo>
                  <a:lnTo>
                    <a:pt x="0" y="4438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0905" r="0" b="-39382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10190074" cy="50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1"/>
                </a:lnSpc>
              </a:pPr>
              <a:r>
                <a:rPr lang="en-US" sz="1623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taughtBy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747523" y="7642555"/>
            <a:ext cx="7629668" cy="295060"/>
            <a:chOff x="0" y="0"/>
            <a:chExt cx="10172890" cy="39341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172888" cy="393416"/>
            </a:xfrm>
            <a:custGeom>
              <a:avLst/>
              <a:gdLst/>
              <a:ahLst/>
              <a:cxnLst/>
              <a:rect r="r" b="b" t="t" l="l"/>
              <a:pathLst>
                <a:path h="393416" w="10172888">
                  <a:moveTo>
                    <a:pt x="0" y="0"/>
                  </a:moveTo>
                  <a:lnTo>
                    <a:pt x="10172888" y="0"/>
                  </a:lnTo>
                  <a:lnTo>
                    <a:pt x="10172888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162" r="0" b="-44751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0172890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Domain: Course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747523" y="7951861"/>
            <a:ext cx="7629668" cy="295060"/>
            <a:chOff x="0" y="0"/>
            <a:chExt cx="10172890" cy="39341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172888" cy="393416"/>
            </a:xfrm>
            <a:custGeom>
              <a:avLst/>
              <a:gdLst/>
              <a:ahLst/>
              <a:cxnLst/>
              <a:rect r="r" b="b" t="t" l="l"/>
              <a:pathLst>
                <a:path h="393416" w="10172888">
                  <a:moveTo>
                    <a:pt x="0" y="0"/>
                  </a:moveTo>
                  <a:lnTo>
                    <a:pt x="10172888" y="0"/>
                  </a:lnTo>
                  <a:lnTo>
                    <a:pt x="10172888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162" r="0" b="-447518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10172890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Range: Teacher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747523" y="8261175"/>
            <a:ext cx="7629668" cy="295060"/>
            <a:chOff x="0" y="0"/>
            <a:chExt cx="10172890" cy="39341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172888" cy="393416"/>
            </a:xfrm>
            <a:custGeom>
              <a:avLst/>
              <a:gdLst/>
              <a:ahLst/>
              <a:cxnLst/>
              <a:rect r="r" b="b" t="t" l="l"/>
              <a:pathLst>
                <a:path h="393416" w="10172888">
                  <a:moveTo>
                    <a:pt x="0" y="0"/>
                  </a:moveTo>
                  <a:lnTo>
                    <a:pt x="10172888" y="0"/>
                  </a:lnTo>
                  <a:lnTo>
                    <a:pt x="10172888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162" r="0" b="-44751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10172890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Cardinality: 0..*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747523" y="8570490"/>
            <a:ext cx="7629668" cy="295060"/>
            <a:chOff x="0" y="0"/>
            <a:chExt cx="10172890" cy="39341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172888" cy="393416"/>
            </a:xfrm>
            <a:custGeom>
              <a:avLst/>
              <a:gdLst/>
              <a:ahLst/>
              <a:cxnLst/>
              <a:rect r="r" b="b" t="t" l="l"/>
              <a:pathLst>
                <a:path h="393416" w="10172888">
                  <a:moveTo>
                    <a:pt x="0" y="0"/>
                  </a:moveTo>
                  <a:lnTo>
                    <a:pt x="10172888" y="0"/>
                  </a:lnTo>
                  <a:lnTo>
                    <a:pt x="10172888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162" r="0" b="-447518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10172890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Origin: reused property profile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541307" y="9189110"/>
            <a:ext cx="7951861" cy="824827"/>
            <a:chOff x="0" y="0"/>
            <a:chExt cx="10602481" cy="109976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602468" cy="1099693"/>
            </a:xfrm>
            <a:custGeom>
              <a:avLst/>
              <a:gdLst/>
              <a:ahLst/>
              <a:cxnLst/>
              <a:rect r="r" b="b" t="t" l="l"/>
              <a:pathLst>
                <a:path h="1099693" w="10602468">
                  <a:moveTo>
                    <a:pt x="137414" y="0"/>
                  </a:moveTo>
                  <a:lnTo>
                    <a:pt x="10465054" y="0"/>
                  </a:lnTo>
                  <a:cubicBezTo>
                    <a:pt x="10541000" y="0"/>
                    <a:pt x="10602468" y="61595"/>
                    <a:pt x="10602468" y="137414"/>
                  </a:cubicBezTo>
                  <a:lnTo>
                    <a:pt x="10602468" y="962279"/>
                  </a:lnTo>
                  <a:cubicBezTo>
                    <a:pt x="10602468" y="1038225"/>
                    <a:pt x="10540873" y="1099693"/>
                    <a:pt x="10465054" y="1099693"/>
                  </a:cubicBezTo>
                  <a:lnTo>
                    <a:pt x="137414" y="1099693"/>
                  </a:lnTo>
                  <a:cubicBezTo>
                    <a:pt x="61595" y="1099820"/>
                    <a:pt x="0" y="1038225"/>
                    <a:pt x="0" y="962279"/>
                  </a:cubicBezTo>
                  <a:lnTo>
                    <a:pt x="0" y="137414"/>
                  </a:lnTo>
                  <a:cubicBezTo>
                    <a:pt x="0" y="61595"/>
                    <a:pt x="61595" y="0"/>
                    <a:pt x="137414" y="0"/>
                  </a:cubicBezTo>
                  <a:close/>
                </a:path>
              </a:pathLst>
            </a:custGeom>
            <a:solidFill>
              <a:srgbClr val="E1F5EE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695964" y="9343758"/>
            <a:ext cx="7732766" cy="295060"/>
            <a:chOff x="0" y="0"/>
            <a:chExt cx="10310355" cy="39341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310360" cy="393416"/>
            </a:xfrm>
            <a:custGeom>
              <a:avLst/>
              <a:gdLst/>
              <a:ahLst/>
              <a:cxnLst/>
              <a:rect r="r" b="b" t="t" l="l"/>
              <a:pathLst>
                <a:path h="393416" w="10310360">
                  <a:moveTo>
                    <a:pt x="0" y="0"/>
                  </a:moveTo>
                  <a:lnTo>
                    <a:pt x="10310360" y="0"/>
                  </a:lnTo>
                  <a:lnTo>
                    <a:pt x="10310360" y="393416"/>
                  </a:lnTo>
                  <a:lnTo>
                    <a:pt x="0" y="393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6970" r="0" b="-45432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10310355" cy="421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5"/>
                </a:lnSpc>
              </a:pPr>
              <a:r>
                <a:rPr lang="en-US" sz="1420">
                  <a:solidFill>
                    <a:srgbClr val="085041"/>
                  </a:solidFill>
                  <a:latin typeface="Garet"/>
                  <a:ea typeface="Garet"/>
                  <a:cs typeface="Garet"/>
                  <a:sym typeface="Garet"/>
                </a:rPr>
                <a:t>Customization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695964" y="9653073"/>
            <a:ext cx="7719879" cy="251071"/>
            <a:chOff x="0" y="0"/>
            <a:chExt cx="10293172" cy="33476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293176" cy="334761"/>
            </a:xfrm>
            <a:custGeom>
              <a:avLst/>
              <a:gdLst/>
              <a:ahLst/>
              <a:cxnLst/>
              <a:rect r="r" b="b" t="t" l="l"/>
              <a:pathLst>
                <a:path h="334761" w="10293176">
                  <a:moveTo>
                    <a:pt x="0" y="0"/>
                  </a:moveTo>
                  <a:lnTo>
                    <a:pt x="10293176" y="0"/>
                  </a:lnTo>
                  <a:lnTo>
                    <a:pt x="10293176" y="334761"/>
                  </a:lnTo>
                  <a:lnTo>
                    <a:pt x="0" y="3347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8056" r="0" b="-54018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10293172" cy="353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7"/>
                </a:lnSpc>
              </a:pPr>
              <a:r>
                <a:rPr lang="en-US" sz="1218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Beginner mode hides details; analyst mode shows lineage; technical mode shows cardinalities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1500" y="571500"/>
            <a:ext cx="1485900" cy="457200"/>
            <a:chOff x="0" y="0"/>
            <a:chExt cx="19812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81200">
                  <a:moveTo>
                    <a:pt x="304800" y="0"/>
                  </a:moveTo>
                  <a:lnTo>
                    <a:pt x="1676400" y="0"/>
                  </a:lnTo>
                  <a:cubicBezTo>
                    <a:pt x="1844675" y="0"/>
                    <a:pt x="1981200" y="136525"/>
                    <a:pt x="1981200" y="304800"/>
                  </a:cubicBezTo>
                  <a:cubicBezTo>
                    <a:pt x="1981200" y="473075"/>
                    <a:pt x="1844675" y="609600"/>
                    <a:pt x="16764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27500A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700088"/>
            <a:ext cx="1228277" cy="275653"/>
            <a:chOff x="0" y="0"/>
            <a:chExt cx="1637703" cy="367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7704" cy="367538"/>
            </a:xfrm>
            <a:custGeom>
              <a:avLst/>
              <a:gdLst/>
              <a:ahLst/>
              <a:cxnLst/>
              <a:rect r="r" b="b" t="t" l="l"/>
              <a:pathLst>
                <a:path h="367538" w="1637704">
                  <a:moveTo>
                    <a:pt x="0" y="0"/>
                  </a:moveTo>
                  <a:lnTo>
                    <a:pt x="1637704" y="0"/>
                  </a:lnTo>
                  <a:lnTo>
                    <a:pt x="1637704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766" r="0" b="-308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637703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27500A"/>
                  </a:solidFill>
                  <a:latin typeface="Garet"/>
                  <a:ea typeface="Garet"/>
                  <a:cs typeface="Garet"/>
                  <a:sym typeface="Garet"/>
                </a:rPr>
                <a:t>Scalability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868528"/>
            <a:ext cx="17487900" cy="1465097"/>
            <a:chOff x="0" y="0"/>
            <a:chExt cx="23317200" cy="1953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17200" cy="1953463"/>
            </a:xfrm>
            <a:custGeom>
              <a:avLst/>
              <a:gdLst/>
              <a:ahLst/>
              <a:cxnLst/>
              <a:rect r="r" b="b" t="t" l="l"/>
              <a:pathLst>
                <a:path h="1953463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953463"/>
                  </a:lnTo>
                  <a:lnTo>
                    <a:pt x="0" y="19534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175" r="0" b="-1559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3825"/>
              <a:ext cx="23317200" cy="1829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Handling Larger Specifications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2000250"/>
            <a:ext cx="17287875" cy="426149"/>
            <a:chOff x="0" y="0"/>
            <a:chExt cx="23050500" cy="5681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50500" cy="568198"/>
            </a:xfrm>
            <a:custGeom>
              <a:avLst/>
              <a:gdLst/>
              <a:ahLst/>
              <a:cxnLst/>
              <a:rect r="r" b="b" t="t" l="l"/>
              <a:pathLst>
                <a:path h="568198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568198"/>
                  </a:lnTo>
                  <a:lnTo>
                    <a:pt x="0" y="5681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3525" r="0" b="-7374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3050500" cy="625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52"/>
                </a:lnSpc>
              </a:pPr>
              <a:r>
                <a:rPr lang="en-US" sz="205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Start simple, reveal detail progressively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0075" y="2686050"/>
            <a:ext cx="8401050" cy="6000750"/>
            <a:chOff x="0" y="0"/>
            <a:chExt cx="11201400" cy="800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014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7696200"/>
                  </a:lnTo>
                  <a:cubicBezTo>
                    <a:pt x="11201400" y="7864602"/>
                    <a:pt x="11064875" y="8001000"/>
                    <a:pt x="10896600" y="8001000"/>
                  </a:cubicBezTo>
                  <a:lnTo>
                    <a:pt x="76200" y="8001000"/>
                  </a:lnTo>
                  <a:cubicBezTo>
                    <a:pt x="34163" y="8001000"/>
                    <a:pt x="0" y="7966837"/>
                    <a:pt x="0" y="792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0075" y="2686050"/>
            <a:ext cx="57150" cy="6000750"/>
            <a:chOff x="0" y="0"/>
            <a:chExt cx="76200" cy="800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76200">
                  <a:moveTo>
                    <a:pt x="76200" y="0"/>
                  </a:moveTo>
                  <a:lnTo>
                    <a:pt x="76200" y="8001000"/>
                  </a:lnTo>
                  <a:cubicBezTo>
                    <a:pt x="34163" y="8001000"/>
                    <a:pt x="0" y="7966837"/>
                    <a:pt x="0" y="792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27500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1550" y="302895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EAF3DE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207294" y="3228975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828800" y="3077718"/>
            <a:ext cx="2040865" cy="560832"/>
            <a:chOff x="0" y="0"/>
            <a:chExt cx="2721153" cy="7477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21153" cy="747776"/>
            </a:xfrm>
            <a:custGeom>
              <a:avLst/>
              <a:gdLst/>
              <a:ahLst/>
              <a:cxnLst/>
              <a:rect r="r" b="b" t="t" l="l"/>
              <a:pathLst>
                <a:path h="747776" w="2721153">
                  <a:moveTo>
                    <a:pt x="0" y="0"/>
                  </a:moveTo>
                  <a:lnTo>
                    <a:pt x="2721153" y="0"/>
                  </a:lnTo>
                  <a:lnTo>
                    <a:pt x="2721153" y="747776"/>
                  </a:lnTo>
                  <a:lnTo>
                    <a:pt x="0" y="7477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288" r="12491" b="-28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721153" cy="77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Strategies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550" y="4143375"/>
            <a:ext cx="571500" cy="571500"/>
            <a:chOff x="0" y="0"/>
            <a:chExt cx="762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AF3D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1532" y="4257675"/>
            <a:ext cx="200025" cy="372999"/>
            <a:chOff x="0" y="0"/>
            <a:chExt cx="266700" cy="4973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6700" cy="497332"/>
            </a:xfrm>
            <a:custGeom>
              <a:avLst/>
              <a:gdLst/>
              <a:ahLst/>
              <a:cxnLst/>
              <a:rect r="r" b="b" t="t" l="l"/>
              <a:pathLst>
                <a:path h="497332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97332"/>
                  </a:lnTo>
                  <a:lnTo>
                    <a:pt x="0" y="4973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9948" t="0" r="-169948" b="80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66700" cy="56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7500A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71650" y="4143375"/>
            <a:ext cx="6915150" cy="423196"/>
            <a:chOff x="0" y="0"/>
            <a:chExt cx="9220200" cy="5642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20200" cy="564261"/>
            </a:xfrm>
            <a:custGeom>
              <a:avLst/>
              <a:gdLst/>
              <a:ahLst/>
              <a:cxnLst/>
              <a:rect r="r" b="b" t="t" l="l"/>
              <a:pathLst>
                <a:path h="564261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1126" r="0" b="-2656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2202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Identify Important Classes First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71650" y="4600575"/>
            <a:ext cx="6900862" cy="342900"/>
            <a:chOff x="0" y="0"/>
            <a:chExt cx="920115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01150" cy="457200"/>
            </a:xfrm>
            <a:custGeom>
              <a:avLst/>
              <a:gdLst/>
              <a:ahLst/>
              <a:cxnLst/>
              <a:rect r="r" b="b" t="t" l="l"/>
              <a:pathLst>
                <a:path h="457200" w="9201150">
                  <a:moveTo>
                    <a:pt x="0" y="0"/>
                  </a:moveTo>
                  <a:lnTo>
                    <a:pt x="9201150" y="0"/>
                  </a:lnTo>
                  <a:lnTo>
                    <a:pt x="92011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2136" r="0" b="-34213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011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Highlight entry points and key structures before showing everything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1550" y="5229225"/>
            <a:ext cx="571500" cy="571500"/>
            <a:chOff x="0" y="0"/>
            <a:chExt cx="762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AF3D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90777" y="5343525"/>
            <a:ext cx="242888" cy="372999"/>
            <a:chOff x="0" y="0"/>
            <a:chExt cx="323850" cy="4973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850" cy="497332"/>
            </a:xfrm>
            <a:custGeom>
              <a:avLst/>
              <a:gdLst/>
              <a:ahLst/>
              <a:cxnLst/>
              <a:rect r="r" b="b" t="t" l="l"/>
              <a:pathLst>
                <a:path h="497332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97332"/>
                  </a:lnTo>
                  <a:lnTo>
                    <a:pt x="0" y="4973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1134" t="0" r="-131134" b="80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323850" cy="56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7500A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71650" y="5229225"/>
            <a:ext cx="6729412" cy="423196"/>
            <a:chOff x="0" y="0"/>
            <a:chExt cx="8972550" cy="5642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72550" cy="564261"/>
            </a:xfrm>
            <a:custGeom>
              <a:avLst/>
              <a:gdLst/>
              <a:ahLst/>
              <a:cxnLst/>
              <a:rect r="r" b="b" t="t" l="l"/>
              <a:pathLst>
                <a:path h="564261" w="8972550">
                  <a:moveTo>
                    <a:pt x="0" y="0"/>
                  </a:moveTo>
                  <a:lnTo>
                    <a:pt x="8972550" y="0"/>
                  </a:lnTo>
                  <a:lnTo>
                    <a:pt x="89725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2574" r="0" b="-2571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89725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Progressive Disclosure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71650" y="5686425"/>
            <a:ext cx="6715125" cy="342900"/>
            <a:chOff x="0" y="0"/>
            <a:chExt cx="89535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53500" cy="457200"/>
            </a:xfrm>
            <a:custGeom>
              <a:avLst/>
              <a:gdLst/>
              <a:ahLst/>
              <a:cxnLst/>
              <a:rect r="r" b="b" t="t" l="l"/>
              <a:pathLst>
                <a:path h="4572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1581" r="0" b="-3315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9535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Show overview first, expand details only when explicitly requested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1550" y="6315075"/>
            <a:ext cx="571500" cy="571500"/>
            <a:chOff x="0" y="0"/>
            <a:chExt cx="762000" cy="762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AF3D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9653" y="6429375"/>
            <a:ext cx="242888" cy="372999"/>
            <a:chOff x="0" y="0"/>
            <a:chExt cx="323850" cy="4973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3850" cy="497332"/>
            </a:xfrm>
            <a:custGeom>
              <a:avLst/>
              <a:gdLst/>
              <a:ahLst/>
              <a:cxnLst/>
              <a:rect r="r" b="b" t="t" l="l"/>
              <a:pathLst>
                <a:path h="497332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97332"/>
                  </a:lnTo>
                  <a:lnTo>
                    <a:pt x="0" y="4973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1134" t="0" r="-131134" b="806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323850" cy="56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7500A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71650" y="6315075"/>
            <a:ext cx="6500812" cy="423196"/>
            <a:chOff x="0" y="0"/>
            <a:chExt cx="8667750" cy="5642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67750" cy="564261"/>
            </a:xfrm>
            <a:custGeom>
              <a:avLst/>
              <a:gdLst/>
              <a:ahLst/>
              <a:cxnLst/>
              <a:rect r="r" b="b" t="t" l="l"/>
              <a:pathLst>
                <a:path h="564261" w="8667750">
                  <a:moveTo>
                    <a:pt x="0" y="0"/>
                  </a:moveTo>
                  <a:lnTo>
                    <a:pt x="8667750" y="0"/>
                  </a:lnTo>
                  <a:lnTo>
                    <a:pt x="86677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2049" r="0" b="-24657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86677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Smart Filters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71650" y="6772275"/>
            <a:ext cx="6486525" cy="342900"/>
            <a:chOff x="0" y="0"/>
            <a:chExt cx="8648700" cy="457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48700" cy="457200"/>
            </a:xfrm>
            <a:custGeom>
              <a:avLst/>
              <a:gdLst/>
              <a:ahLst/>
              <a:cxnLst/>
              <a:rect r="r" b="b" t="t" l="l"/>
              <a:pathLst>
                <a:path h="457200" w="8648700">
                  <a:moveTo>
                    <a:pt x="0" y="0"/>
                  </a:moveTo>
                  <a:lnTo>
                    <a:pt x="8648700" y="0"/>
                  </a:lnTo>
                  <a:lnTo>
                    <a:pt x="8648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8591" r="0" b="-31859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6487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Class-only, requirement-only, and neighborhood-based filtering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1550" y="7400925"/>
            <a:ext cx="571500" cy="571500"/>
            <a:chOff x="0" y="0"/>
            <a:chExt cx="7620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AF3D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9882" y="7515225"/>
            <a:ext cx="242888" cy="372999"/>
            <a:chOff x="0" y="0"/>
            <a:chExt cx="323850" cy="4973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3850" cy="497332"/>
            </a:xfrm>
            <a:custGeom>
              <a:avLst/>
              <a:gdLst/>
              <a:ahLst/>
              <a:cxnLst/>
              <a:rect r="r" b="b" t="t" l="l"/>
              <a:pathLst>
                <a:path h="497332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97332"/>
                  </a:lnTo>
                  <a:lnTo>
                    <a:pt x="0" y="4973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1134" t="0" r="-131134" b="806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323850" cy="56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7500A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71650" y="7400925"/>
            <a:ext cx="6586538" cy="423196"/>
            <a:chOff x="0" y="0"/>
            <a:chExt cx="8782050" cy="5642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2050" cy="564261"/>
            </a:xfrm>
            <a:custGeom>
              <a:avLst/>
              <a:gdLst/>
              <a:ahLst/>
              <a:cxnLst/>
              <a:rect r="r" b="b" t="t" l="l"/>
              <a:pathLst>
                <a:path h="564261" w="8782050">
                  <a:moveTo>
                    <a:pt x="0" y="0"/>
                  </a:moveTo>
                  <a:lnTo>
                    <a:pt x="8782050" y="0"/>
                  </a:lnTo>
                  <a:lnTo>
                    <a:pt x="87820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5996" r="0" b="-2505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87820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Collapse Low-Priority Details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71650" y="7858125"/>
            <a:ext cx="6572250" cy="342900"/>
            <a:chOff x="0" y="0"/>
            <a:chExt cx="8763000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63000" cy="457200"/>
            </a:xfrm>
            <a:custGeom>
              <a:avLst/>
              <a:gdLst/>
              <a:ahLst/>
              <a:cxnLst/>
              <a:rect r="r" b="b" t="t" l="l"/>
              <a:pathLst>
                <a:path h="4572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763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Keep secondary information hidden until users choose to expand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72600" y="2686050"/>
            <a:ext cx="8401050" cy="6000750"/>
            <a:chOff x="0" y="0"/>
            <a:chExt cx="11201400" cy="8001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014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7696200"/>
                  </a:lnTo>
                  <a:cubicBezTo>
                    <a:pt x="11201400" y="7864602"/>
                    <a:pt x="11064875" y="8001000"/>
                    <a:pt x="10896600" y="8001000"/>
                  </a:cubicBezTo>
                  <a:lnTo>
                    <a:pt x="76200" y="8001000"/>
                  </a:lnTo>
                  <a:cubicBezTo>
                    <a:pt x="34163" y="8001000"/>
                    <a:pt x="0" y="7966837"/>
                    <a:pt x="0" y="792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315450" y="2686050"/>
            <a:ext cx="57150" cy="6000750"/>
            <a:chOff x="0" y="0"/>
            <a:chExt cx="76200" cy="8001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76200">
                  <a:moveTo>
                    <a:pt x="76200" y="0"/>
                  </a:moveTo>
                  <a:lnTo>
                    <a:pt x="76200" y="8001000"/>
                  </a:lnTo>
                  <a:cubicBezTo>
                    <a:pt x="34163" y="8001000"/>
                    <a:pt x="0" y="7966837"/>
                    <a:pt x="0" y="792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86925" y="3028950"/>
            <a:ext cx="685800" cy="685800"/>
            <a:chOff x="0" y="0"/>
            <a:chExt cx="914400" cy="914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9886950" y="322897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0544175" y="3077718"/>
            <a:ext cx="6462539" cy="560832"/>
            <a:chOff x="0" y="0"/>
            <a:chExt cx="8616719" cy="7477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616719" cy="747776"/>
            </a:xfrm>
            <a:custGeom>
              <a:avLst/>
              <a:gdLst/>
              <a:ahLst/>
              <a:cxnLst/>
              <a:rect r="r" b="b" t="t" l="l"/>
              <a:pathLst>
                <a:path h="747776" w="8616719">
                  <a:moveTo>
                    <a:pt x="0" y="0"/>
                  </a:moveTo>
                  <a:lnTo>
                    <a:pt x="8616719" y="0"/>
                  </a:lnTo>
                  <a:lnTo>
                    <a:pt x="8616719" y="747776"/>
                  </a:lnTo>
                  <a:lnTo>
                    <a:pt x="0" y="7477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8860" r="15546" b="-13038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8616719" cy="77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How to Identify Important Classes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86925" y="4143375"/>
            <a:ext cx="571500" cy="571500"/>
            <a:chOff x="0" y="0"/>
            <a:chExt cx="762000" cy="762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83" id="83"/>
          <p:cNvSpPr/>
          <p:nvPr/>
        </p:nvSpPr>
        <p:spPr>
          <a:xfrm flipH="false" flipV="false" rot="0">
            <a:off x="9872662" y="4314825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6" y="0"/>
                </a:lnTo>
                <a:lnTo>
                  <a:pt x="20002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487025" y="4143375"/>
            <a:ext cx="5286375" cy="423196"/>
            <a:chOff x="0" y="0"/>
            <a:chExt cx="7048500" cy="56426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048500" cy="564261"/>
            </a:xfrm>
            <a:custGeom>
              <a:avLst/>
              <a:gdLst/>
              <a:ahLst/>
              <a:cxnLst/>
              <a:rect r="r" b="b" t="t" l="l"/>
              <a:pathLst>
                <a:path h="564261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133" r="0" b="-19066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70485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Root or Entry Classes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487025" y="4600575"/>
            <a:ext cx="5272088" cy="342900"/>
            <a:chOff x="0" y="0"/>
            <a:chExt cx="7029450" cy="457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29450" cy="457200"/>
            </a:xfrm>
            <a:custGeom>
              <a:avLst/>
              <a:gdLst/>
              <a:ahLst/>
              <a:cxnLst/>
              <a:rect r="r" b="b" t="t" l="l"/>
              <a:pathLst>
                <a:path h="457200" w="7029450">
                  <a:moveTo>
                    <a:pt x="0" y="0"/>
                  </a:moveTo>
                  <a:lnTo>
                    <a:pt x="7029450" y="0"/>
                  </a:lnTo>
                  <a:lnTo>
                    <a:pt x="7029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9582" r="0" b="-24958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70294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Classes that serve as starting points in the structure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686925" y="5229225"/>
            <a:ext cx="571500" cy="571500"/>
            <a:chOff x="0" y="0"/>
            <a:chExt cx="762000" cy="762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9858375" y="5400675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0487025" y="5229225"/>
            <a:ext cx="4672012" cy="423196"/>
            <a:chOff x="0" y="0"/>
            <a:chExt cx="6229350" cy="56426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29350" cy="564261"/>
            </a:xfrm>
            <a:custGeom>
              <a:avLst/>
              <a:gdLst/>
              <a:ahLst/>
              <a:cxnLst/>
              <a:rect r="r" b="b" t="t" l="l"/>
              <a:pathLst>
                <a:path h="564261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7846" r="0" b="-16237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76200"/>
              <a:ext cx="622935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Highly Connected Classes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487025" y="5686425"/>
            <a:ext cx="4657725" cy="342900"/>
            <a:chOff x="0" y="0"/>
            <a:chExt cx="6210300" cy="4572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210300" cy="457200"/>
            </a:xfrm>
            <a:custGeom>
              <a:avLst/>
              <a:gdLst/>
              <a:ahLst/>
              <a:cxnLst/>
              <a:rect r="r" b="b" t="t" l="l"/>
              <a:pathLst>
                <a:path h="4572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4671" r="0" b="-21467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62103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Classes with many properties or relationships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86925" y="6315075"/>
            <a:ext cx="571500" cy="571500"/>
            <a:chOff x="0" y="0"/>
            <a:chExt cx="762000" cy="762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9872662" y="6486525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6" y="0"/>
                </a:lnTo>
                <a:lnTo>
                  <a:pt x="20002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10487025" y="6515100"/>
            <a:ext cx="5030494" cy="423196"/>
            <a:chOff x="0" y="0"/>
            <a:chExt cx="6707325" cy="56426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707325" cy="564261"/>
            </a:xfrm>
            <a:custGeom>
              <a:avLst/>
              <a:gdLst/>
              <a:ahLst/>
              <a:cxnLst/>
              <a:rect r="r" b="b" t="t" l="l"/>
              <a:pathLst>
                <a:path h="564261" w="6707325">
                  <a:moveTo>
                    <a:pt x="0" y="0"/>
                  </a:moveTo>
                  <a:lnTo>
                    <a:pt x="6707325" y="0"/>
                  </a:lnTo>
                  <a:lnTo>
                    <a:pt x="6707325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9161" r="6558" b="-16369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6707325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Classes with Mandatory Properties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487025" y="6811899"/>
            <a:ext cx="4686300" cy="342900"/>
            <a:chOff x="0" y="0"/>
            <a:chExt cx="6248400" cy="4572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248400" cy="457200"/>
            </a:xfrm>
            <a:custGeom>
              <a:avLst/>
              <a:gdLst/>
              <a:ahLst/>
              <a:cxnLst/>
              <a:rect r="r" b="b" t="t" l="l"/>
              <a:pathLst>
                <a:path h="457200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62484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Required fields indicate structural importance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86925" y="7400925"/>
            <a:ext cx="571500" cy="571500"/>
            <a:chOff x="0" y="0"/>
            <a:chExt cx="762000" cy="7620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sp>
        <p:nvSpPr>
          <p:cNvPr name="Freeform 110" id="110"/>
          <p:cNvSpPr/>
          <p:nvPr/>
        </p:nvSpPr>
        <p:spPr>
          <a:xfrm flipH="false" flipV="false" rot="0">
            <a:off x="9858375" y="7572375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0487025" y="7400925"/>
            <a:ext cx="4800600" cy="423196"/>
            <a:chOff x="0" y="0"/>
            <a:chExt cx="6400800" cy="56426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400800" cy="564261"/>
            </a:xfrm>
            <a:custGeom>
              <a:avLst/>
              <a:gdLst/>
              <a:ahLst/>
              <a:cxnLst/>
              <a:rect r="r" b="b" t="t" l="l"/>
              <a:pathLst>
                <a:path h="564261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3766" r="0" b="-1682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76200"/>
              <a:ext cx="6400800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Central to Profile Relationships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487025" y="7858125"/>
            <a:ext cx="4786312" cy="342900"/>
            <a:chOff x="0" y="0"/>
            <a:chExt cx="6381750" cy="4572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381750" cy="457200"/>
            </a:xfrm>
            <a:custGeom>
              <a:avLst/>
              <a:gdLst/>
              <a:ahLst/>
              <a:cxnLst/>
              <a:rect r="r" b="b" t="t" l="l"/>
              <a:pathLst>
                <a:path h="457200" w="6381750">
                  <a:moveTo>
                    <a:pt x="0" y="0"/>
                  </a:moveTo>
                  <a:lnTo>
                    <a:pt x="6381750" y="0"/>
                  </a:lnTo>
                  <a:lnTo>
                    <a:pt x="63817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1978" r="0" b="-22197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63817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Classes central to reuse and inheritance chains</a:t>
              </a:r>
            </a:p>
          </p:txBody>
        </p:sp>
      </p:grpSp>
      <p:sp>
        <p:nvSpPr>
          <p:cNvPr name="Freeform 117" id="117"/>
          <p:cNvSpPr/>
          <p:nvPr/>
        </p:nvSpPr>
        <p:spPr>
          <a:xfrm flipH="false" flipV="false" rot="0">
            <a:off x="885825" y="977265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373457" y="9744075"/>
            <a:ext cx="12461164" cy="342900"/>
            <a:chOff x="0" y="0"/>
            <a:chExt cx="16614886" cy="4572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6614887" cy="457200"/>
            </a:xfrm>
            <a:custGeom>
              <a:avLst/>
              <a:gdLst/>
              <a:ahLst/>
              <a:cxnLst/>
              <a:rect r="r" b="b" t="t" l="l"/>
              <a:pathLst>
                <a:path h="457200" w="16614887">
                  <a:moveTo>
                    <a:pt x="0" y="0"/>
                  </a:moveTo>
                  <a:lnTo>
                    <a:pt x="16614887" y="0"/>
                  </a:lnTo>
                  <a:lnTo>
                    <a:pt x="1661488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9125" r="19625" b="-519125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6614886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This directly answers:</a:t>
              </a:r>
              <a:r>
                <a:rPr lang="en-US" sz="15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 What happens when the specification contains many classes and properties?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783096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7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7" y="7684968"/>
                </a:lnTo>
                <a:lnTo>
                  <a:pt x="768496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1500" y="571500"/>
            <a:ext cx="2728912" cy="457200"/>
            <a:chOff x="0" y="0"/>
            <a:chExt cx="363855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8550" cy="609600"/>
            </a:xfrm>
            <a:custGeom>
              <a:avLst/>
              <a:gdLst/>
              <a:ahLst/>
              <a:cxnLst/>
              <a:rect r="r" b="b" t="t" l="l"/>
              <a:pathLst>
                <a:path h="609600" w="3638550">
                  <a:moveTo>
                    <a:pt x="304800" y="0"/>
                  </a:moveTo>
                  <a:lnTo>
                    <a:pt x="3333750" y="0"/>
                  </a:lnTo>
                  <a:cubicBezTo>
                    <a:pt x="3502025" y="0"/>
                    <a:pt x="3638550" y="136525"/>
                    <a:pt x="3638550" y="304800"/>
                  </a:cubicBezTo>
                  <a:cubicBezTo>
                    <a:pt x="3638550" y="473075"/>
                    <a:pt x="3502025" y="609600"/>
                    <a:pt x="33337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85041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700088"/>
            <a:ext cx="2478662" cy="275653"/>
            <a:chOff x="0" y="0"/>
            <a:chExt cx="3304883" cy="367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4878" cy="367538"/>
            </a:xfrm>
            <a:custGeom>
              <a:avLst/>
              <a:gdLst/>
              <a:ahLst/>
              <a:cxnLst/>
              <a:rect r="r" b="b" t="t" l="l"/>
              <a:pathLst>
                <a:path h="367538" w="3304878">
                  <a:moveTo>
                    <a:pt x="0" y="0"/>
                  </a:moveTo>
                  <a:lnTo>
                    <a:pt x="3304878" y="0"/>
                  </a:lnTo>
                  <a:lnTo>
                    <a:pt x="3304878" y="367538"/>
                  </a:lnTo>
                  <a:lnTo>
                    <a:pt x="0" y="3675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51" r="0" b="-11926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304883" cy="377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85041"/>
                  </a:solidFill>
                  <a:latin typeface="Garet"/>
                  <a:ea typeface="Garet"/>
                  <a:cs typeface="Garet"/>
                  <a:sym typeface="Garet"/>
                </a:rPr>
                <a:t>Visual Exploration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847096"/>
            <a:ext cx="17487900" cy="1465097"/>
            <a:chOff x="0" y="0"/>
            <a:chExt cx="23317200" cy="1953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17200" cy="1953463"/>
            </a:xfrm>
            <a:custGeom>
              <a:avLst/>
              <a:gdLst/>
              <a:ahLst/>
              <a:cxnLst/>
              <a:rect r="r" b="b" t="t" l="l"/>
              <a:pathLst>
                <a:path h="1953463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953463"/>
                  </a:lnTo>
                  <a:lnTo>
                    <a:pt x="0" y="19534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175" r="0" b="-1559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3825"/>
              <a:ext cx="23317200" cy="1829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Interactive Graph</a:t>
              </a:r>
              <a:r>
                <a:rPr lang="en-US" b="true" sz="540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 View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2000250"/>
            <a:ext cx="17287875" cy="426149"/>
            <a:chOff x="0" y="0"/>
            <a:chExt cx="23050500" cy="5681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50500" cy="568198"/>
            </a:xfrm>
            <a:custGeom>
              <a:avLst/>
              <a:gdLst/>
              <a:ahLst/>
              <a:cxnLst/>
              <a:rect r="r" b="b" t="t" l="l"/>
              <a:pathLst>
                <a:path h="568198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568198"/>
                  </a:lnTo>
                  <a:lnTo>
                    <a:pt x="0" y="5681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3525" r="0" b="-7374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3050500" cy="625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52"/>
                </a:lnSpc>
              </a:pPr>
              <a:r>
                <a:rPr lang="en-US" sz="205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Live graph replacing static SVG with filtering and focus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69119" y="2626519"/>
            <a:ext cx="5562600" cy="2081068"/>
          </a:xfrm>
          <a:custGeom>
            <a:avLst/>
            <a:gdLst/>
            <a:ahLst/>
            <a:cxnLst/>
            <a:rect r="r" b="b" t="t" l="l"/>
            <a:pathLst>
              <a:path h="2081068" w="5562600">
                <a:moveTo>
                  <a:pt x="0" y="0"/>
                </a:moveTo>
                <a:lnTo>
                  <a:pt x="5562600" y="0"/>
                </a:lnTo>
                <a:lnTo>
                  <a:pt x="5562600" y="2081068"/>
                </a:lnTo>
                <a:lnTo>
                  <a:pt x="0" y="2081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8911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71538" y="2928938"/>
            <a:ext cx="571500" cy="571500"/>
            <a:chOff x="0" y="0"/>
            <a:chExt cx="76200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24B4A">
                <a:alpha val="784"/>
              </a:srgbClr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042988" y="3100388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14488" y="3020092"/>
            <a:ext cx="1384348" cy="423196"/>
            <a:chOff x="0" y="0"/>
            <a:chExt cx="1845798" cy="5642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45798" cy="564261"/>
            </a:xfrm>
            <a:custGeom>
              <a:avLst/>
              <a:gdLst/>
              <a:ahLst/>
              <a:cxnLst/>
              <a:rect r="r" b="b" t="t" l="l"/>
              <a:pathLst>
                <a:path h="564261" w="1845798">
                  <a:moveTo>
                    <a:pt x="0" y="0"/>
                  </a:moveTo>
                  <a:lnTo>
                    <a:pt x="1845798" y="0"/>
                  </a:lnTo>
                  <a:lnTo>
                    <a:pt x="1845798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19498" b="142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845798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1538" y="3671888"/>
            <a:ext cx="5072062" cy="742950"/>
            <a:chOff x="0" y="0"/>
            <a:chExt cx="6762750" cy="990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62750" cy="990600"/>
            </a:xfrm>
            <a:custGeom>
              <a:avLst/>
              <a:gdLst/>
              <a:ahLst/>
              <a:cxnLst/>
              <a:rect r="r" b="b" t="t" l="l"/>
              <a:pathLst>
                <a:path h="9906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0" b="-830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76275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Static SVG cannot support filtering, focus, or inspection of relationships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360243" y="2626519"/>
            <a:ext cx="5562600" cy="2081068"/>
          </a:xfrm>
          <a:custGeom>
            <a:avLst/>
            <a:gdLst/>
            <a:ahLst/>
            <a:cxnLst/>
            <a:rect r="r" b="b" t="t" l="l"/>
            <a:pathLst>
              <a:path h="2081068" w="5562600">
                <a:moveTo>
                  <a:pt x="0" y="0"/>
                </a:moveTo>
                <a:lnTo>
                  <a:pt x="5562600" y="0"/>
                </a:lnTo>
                <a:lnTo>
                  <a:pt x="5562600" y="2081068"/>
                </a:lnTo>
                <a:lnTo>
                  <a:pt x="0" y="2081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8911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662661" y="2928938"/>
            <a:ext cx="571500" cy="571500"/>
            <a:chOff x="0" y="0"/>
            <a:chExt cx="762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9922">
                <a:alpha val="784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34111" y="3100388"/>
            <a:ext cx="228600" cy="228600"/>
            <a:chOff x="0" y="0"/>
            <a:chExt cx="304800" cy="304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6399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05611" y="3020092"/>
            <a:ext cx="1279378" cy="423196"/>
            <a:chOff x="0" y="0"/>
            <a:chExt cx="1705837" cy="5642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5837" cy="564261"/>
            </a:xfrm>
            <a:custGeom>
              <a:avLst/>
              <a:gdLst/>
              <a:ahLst/>
              <a:cxnLst/>
              <a:rect r="r" b="b" t="t" l="l"/>
              <a:pathLst>
                <a:path h="564261" w="1705837">
                  <a:moveTo>
                    <a:pt x="0" y="0"/>
                  </a:moveTo>
                  <a:lnTo>
                    <a:pt x="1705837" y="0"/>
                  </a:lnTo>
                  <a:lnTo>
                    <a:pt x="1705837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45" r="12893" b="142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705837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62661" y="3671888"/>
            <a:ext cx="5072062" cy="742950"/>
            <a:chOff x="0" y="0"/>
            <a:chExt cx="6762750" cy="990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62750" cy="990600"/>
            </a:xfrm>
            <a:custGeom>
              <a:avLst/>
              <a:gdLst/>
              <a:ahLst/>
              <a:cxnLst/>
              <a:rect r="r" b="b" t="t" l="l"/>
              <a:pathLst>
                <a:path h="9906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0" b="-830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76275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Interactive graph with class-only mode, profile hierarchy, requirement filters, reset view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151366" y="2626519"/>
            <a:ext cx="5562600" cy="2081068"/>
          </a:xfrm>
          <a:custGeom>
            <a:avLst/>
            <a:gdLst/>
            <a:ahLst/>
            <a:cxnLst/>
            <a:rect r="r" b="b" t="t" l="l"/>
            <a:pathLst>
              <a:path h="2081068" w="5562600">
                <a:moveTo>
                  <a:pt x="0" y="0"/>
                </a:moveTo>
                <a:lnTo>
                  <a:pt x="5562600" y="0"/>
                </a:lnTo>
                <a:lnTo>
                  <a:pt x="5562600" y="2081068"/>
                </a:lnTo>
                <a:lnTo>
                  <a:pt x="0" y="2081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891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453785" y="2928938"/>
            <a:ext cx="571500" cy="571500"/>
            <a:chOff x="0" y="0"/>
            <a:chExt cx="7620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C447C">
                <a:alpha val="78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625235" y="3100388"/>
            <a:ext cx="228600" cy="228600"/>
            <a:chOff x="0" y="0"/>
            <a:chExt cx="304800" cy="30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1905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143510" y="32766"/>
                  </a:moveTo>
                  <a:lnTo>
                    <a:pt x="152400" y="45085"/>
                  </a:lnTo>
                  <a:lnTo>
                    <a:pt x="161290" y="32766"/>
                  </a:lnTo>
                  <a:cubicBezTo>
                    <a:pt x="176149" y="12192"/>
                    <a:pt x="200152" y="0"/>
                    <a:pt x="225552" y="0"/>
                  </a:cubicBezTo>
                  <a:cubicBezTo>
                    <a:pt x="269367" y="0"/>
                    <a:pt x="304800" y="35433"/>
                    <a:pt x="304800" y="79248"/>
                  </a:cubicBezTo>
                  <a:lnTo>
                    <a:pt x="304800" y="80772"/>
                  </a:lnTo>
                  <a:cubicBezTo>
                    <a:pt x="304800" y="147574"/>
                    <a:pt x="221488" y="225171"/>
                    <a:pt x="178054" y="258318"/>
                  </a:cubicBezTo>
                  <a:cubicBezTo>
                    <a:pt x="170688" y="263906"/>
                    <a:pt x="161671" y="266700"/>
                    <a:pt x="152400" y="266700"/>
                  </a:cubicBezTo>
                  <a:cubicBezTo>
                    <a:pt x="143129" y="266700"/>
                    <a:pt x="134112" y="263906"/>
                    <a:pt x="126746" y="258318"/>
                  </a:cubicBezTo>
                  <a:cubicBezTo>
                    <a:pt x="83312" y="225171"/>
                    <a:pt x="0" y="147574"/>
                    <a:pt x="0" y="80772"/>
                  </a:cubicBezTo>
                  <a:lnTo>
                    <a:pt x="0" y="79248"/>
                  </a:lnTo>
                  <a:cubicBezTo>
                    <a:pt x="0" y="35433"/>
                    <a:pt x="35433" y="0"/>
                    <a:pt x="79248" y="0"/>
                  </a:cubicBezTo>
                  <a:cubicBezTo>
                    <a:pt x="104648" y="0"/>
                    <a:pt x="128651" y="12192"/>
                    <a:pt x="143510" y="32766"/>
                  </a:cubicBezTo>
                  <a:close/>
                </a:path>
              </a:pathLst>
            </a:custGeom>
            <a:solidFill>
              <a:srgbClr val="0C447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196735" y="3039142"/>
            <a:ext cx="1406426" cy="423196"/>
            <a:chOff x="0" y="0"/>
            <a:chExt cx="1875235" cy="5642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75235" cy="564261"/>
            </a:xfrm>
            <a:custGeom>
              <a:avLst/>
              <a:gdLst/>
              <a:ahLst/>
              <a:cxnLst/>
              <a:rect r="r" b="b" t="t" l="l"/>
              <a:pathLst>
                <a:path h="564261" w="1875235">
                  <a:moveTo>
                    <a:pt x="0" y="0"/>
                  </a:moveTo>
                  <a:lnTo>
                    <a:pt x="1875235" y="0"/>
                  </a:lnTo>
                  <a:lnTo>
                    <a:pt x="1875235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55" t="0" r="28965" b="546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1875235" cy="640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Benefit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53785" y="3671888"/>
            <a:ext cx="5072062" cy="742950"/>
            <a:chOff x="0" y="0"/>
            <a:chExt cx="6762750" cy="990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62750" cy="990600"/>
            </a:xfrm>
            <a:custGeom>
              <a:avLst/>
              <a:gdLst/>
              <a:ahLst/>
              <a:cxnLst/>
              <a:rect r="r" b="b" t="t" l="l"/>
              <a:pathLst>
                <a:path h="9906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22" r="0" b="-830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76275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Users can </a:t>
              </a:r>
              <a:r>
                <a:rPr lang="en-US" sz="1600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understand structure and lineage visually instead of inferring them from text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1538" y="9901973"/>
            <a:ext cx="16740833" cy="385027"/>
            <a:chOff x="0" y="0"/>
            <a:chExt cx="22321110" cy="5133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321110" cy="513370"/>
            </a:xfrm>
            <a:custGeom>
              <a:avLst/>
              <a:gdLst/>
              <a:ahLst/>
              <a:cxnLst/>
              <a:rect r="r" b="b" t="t" l="l"/>
              <a:pathLst>
                <a:path h="513370" w="22321110">
                  <a:moveTo>
                    <a:pt x="223211" y="0"/>
                  </a:moveTo>
                  <a:lnTo>
                    <a:pt x="22097899" y="0"/>
                  </a:lnTo>
                  <a:cubicBezTo>
                    <a:pt x="22221037" y="0"/>
                    <a:pt x="22321110" y="49320"/>
                    <a:pt x="22321110" y="110008"/>
                  </a:cubicBezTo>
                  <a:lnTo>
                    <a:pt x="22321110" y="403362"/>
                  </a:lnTo>
                  <a:cubicBezTo>
                    <a:pt x="22321110" y="464050"/>
                    <a:pt x="22221037" y="513370"/>
                    <a:pt x="22097899" y="513370"/>
                  </a:cubicBezTo>
                  <a:lnTo>
                    <a:pt x="223211" y="513370"/>
                  </a:lnTo>
                  <a:cubicBezTo>
                    <a:pt x="100073" y="513370"/>
                    <a:pt x="0" y="464050"/>
                    <a:pt x="0" y="403362"/>
                  </a:cubicBezTo>
                  <a:lnTo>
                    <a:pt x="0" y="110008"/>
                  </a:lnTo>
                  <a:cubicBezTo>
                    <a:pt x="0" y="49320"/>
                    <a:pt x="100073" y="0"/>
                    <a:pt x="223211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091803" y="9994474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9" y="0"/>
                </a:lnTo>
                <a:lnTo>
                  <a:pt x="150019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528762" y="9939338"/>
            <a:ext cx="16266319" cy="285750"/>
            <a:chOff x="0" y="0"/>
            <a:chExt cx="21688425" cy="38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688425" cy="381000"/>
            </a:xfrm>
            <a:custGeom>
              <a:avLst/>
              <a:gdLst/>
              <a:ahLst/>
              <a:cxnLst/>
              <a:rect r="r" b="b" t="t" l="l"/>
              <a:pathLst>
                <a:path h="381000" w="21688425">
                  <a:moveTo>
                    <a:pt x="0" y="0"/>
                  </a:moveTo>
                  <a:lnTo>
                    <a:pt x="21688425" y="0"/>
                  </a:lnTo>
                  <a:lnTo>
                    <a:pt x="21688425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9603" r="27009" b="-7596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1688425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375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Large-spec strategy: Use focus neighborhoods, class-only mode, and profile-hierarchy mode to avoid showing the whole graph at once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4348156" y="4831412"/>
            <a:ext cx="10216905" cy="4993626"/>
          </a:xfrm>
          <a:custGeom>
            <a:avLst/>
            <a:gdLst/>
            <a:ahLst/>
            <a:cxnLst/>
            <a:rect r="r" b="b" t="t" l="l"/>
            <a:pathLst>
              <a:path h="4993626" w="10216905">
                <a:moveTo>
                  <a:pt x="0" y="0"/>
                </a:moveTo>
                <a:lnTo>
                  <a:pt x="10216905" y="0"/>
                </a:lnTo>
                <a:lnTo>
                  <a:pt x="10216905" y="4993626"/>
                </a:lnTo>
                <a:lnTo>
                  <a:pt x="0" y="499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ray abstract line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5522" y="515522"/>
            <a:ext cx="1520781" cy="412413"/>
            <a:chOff x="0" y="0"/>
            <a:chExt cx="2027707" cy="549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7682" cy="549910"/>
            </a:xfrm>
            <a:custGeom>
              <a:avLst/>
              <a:gdLst/>
              <a:ahLst/>
              <a:cxnLst/>
              <a:rect r="r" b="b" t="t" l="l"/>
              <a:pathLst>
                <a:path h="549910" w="2027682">
                  <a:moveTo>
                    <a:pt x="274955" y="0"/>
                  </a:moveTo>
                  <a:lnTo>
                    <a:pt x="1752727" y="0"/>
                  </a:lnTo>
                  <a:cubicBezTo>
                    <a:pt x="1904619" y="0"/>
                    <a:pt x="2027682" y="123063"/>
                    <a:pt x="2027682" y="274955"/>
                  </a:cubicBezTo>
                  <a:cubicBezTo>
                    <a:pt x="2027682" y="426847"/>
                    <a:pt x="1904619" y="549910"/>
                    <a:pt x="1752727" y="549910"/>
                  </a:cubicBezTo>
                  <a:lnTo>
                    <a:pt x="274955" y="549910"/>
                  </a:lnTo>
                  <a:cubicBezTo>
                    <a:pt x="123190" y="549910"/>
                    <a:pt x="0" y="426720"/>
                    <a:pt x="0" y="274955"/>
                  </a:cubicBezTo>
                  <a:cubicBezTo>
                    <a:pt x="0" y="123190"/>
                    <a:pt x="123190" y="0"/>
                    <a:pt x="274955" y="0"/>
                  </a:cubicBezTo>
                  <a:close/>
                </a:path>
              </a:pathLst>
            </a:custGeom>
            <a:solidFill>
              <a:srgbClr val="3C3489">
                <a:alpha val="1961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6040" y="605328"/>
            <a:ext cx="1310051" cy="232800"/>
            <a:chOff x="0" y="0"/>
            <a:chExt cx="1716240" cy="304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6246" cy="304982"/>
            </a:xfrm>
            <a:custGeom>
              <a:avLst/>
              <a:gdLst/>
              <a:ahLst/>
              <a:cxnLst/>
              <a:rect r="r" b="b" t="t" l="l"/>
              <a:pathLst>
                <a:path h="304982" w="1716246">
                  <a:moveTo>
                    <a:pt x="0" y="0"/>
                  </a:moveTo>
                  <a:lnTo>
                    <a:pt x="1716246" y="0"/>
                  </a:lnTo>
                  <a:lnTo>
                    <a:pt x="1716246" y="304982"/>
                  </a:lnTo>
                  <a:lnTo>
                    <a:pt x="0" y="3049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756" r="0" b="-575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16240" cy="314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118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5522" y="769353"/>
            <a:ext cx="17566272" cy="1294721"/>
            <a:chOff x="0" y="0"/>
            <a:chExt cx="23421696" cy="1726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1701" cy="1726296"/>
            </a:xfrm>
            <a:custGeom>
              <a:avLst/>
              <a:gdLst/>
              <a:ahLst/>
              <a:cxnLst/>
              <a:rect r="r" b="b" t="t" l="l"/>
              <a:pathLst>
                <a:path h="1726296" w="23421701">
                  <a:moveTo>
                    <a:pt x="0" y="0"/>
                  </a:moveTo>
                  <a:lnTo>
                    <a:pt x="23421701" y="0"/>
                  </a:lnTo>
                  <a:lnTo>
                    <a:pt x="23421701" y="1726296"/>
                  </a:lnTo>
                  <a:lnTo>
                    <a:pt x="0" y="17262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0475" r="0" b="-1882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4300"/>
              <a:ext cx="23421696" cy="1611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79"/>
                </a:lnSpc>
              </a:pPr>
              <a:r>
                <a:rPr lang="en-US" b="true" sz="4770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2197" y="1793357"/>
            <a:ext cx="17385840" cy="403885"/>
            <a:chOff x="0" y="0"/>
            <a:chExt cx="23181120" cy="53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81125" cy="538511"/>
            </a:xfrm>
            <a:custGeom>
              <a:avLst/>
              <a:gdLst/>
              <a:ahLst/>
              <a:cxnLst/>
              <a:rect r="r" b="b" t="t" l="l"/>
              <a:pathLst>
                <a:path h="538511" w="23181125">
                  <a:moveTo>
                    <a:pt x="0" y="0"/>
                  </a:moveTo>
                  <a:lnTo>
                    <a:pt x="23181125" y="0"/>
                  </a:lnTo>
                  <a:lnTo>
                    <a:pt x="23181125" y="538511"/>
                  </a:lnTo>
                  <a:lnTo>
                    <a:pt x="0" y="5385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4092" r="0" b="-7834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81120" cy="576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8"/>
                </a:lnSpc>
              </a:pPr>
              <a:r>
                <a:rPr lang="en-US" b="true" sz="1929">
                  <a:solidFill>
                    <a:srgbClr val="5F5E5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Mode pre</a:t>
              </a:r>
              <a:r>
                <a:rPr lang="en-US" b="true" sz="1929">
                  <a:solidFill>
                    <a:srgbClr val="5F5E5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sets and scaling tools for different analysis needs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4449" y="2568854"/>
            <a:ext cx="8458610" cy="4464529"/>
          </a:xfrm>
          <a:custGeom>
            <a:avLst/>
            <a:gdLst/>
            <a:ahLst/>
            <a:cxnLst/>
            <a:rect r="r" b="b" t="t" l="l"/>
            <a:pathLst>
              <a:path h="4464529" w="8458610">
                <a:moveTo>
                  <a:pt x="0" y="0"/>
                </a:moveTo>
                <a:lnTo>
                  <a:pt x="8458610" y="0"/>
                </a:lnTo>
                <a:lnTo>
                  <a:pt x="8458610" y="4464530"/>
                </a:lnTo>
                <a:lnTo>
                  <a:pt x="0" y="44645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34380" y="2858786"/>
            <a:ext cx="547135" cy="547135"/>
            <a:chOff x="0" y="0"/>
            <a:chExt cx="729513" cy="7295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9488" cy="729488"/>
            </a:xfrm>
            <a:custGeom>
              <a:avLst/>
              <a:gdLst/>
              <a:ahLst/>
              <a:cxnLst/>
              <a:rect r="r" b="b" t="t" l="l"/>
              <a:pathLst>
                <a:path h="729488" w="729488">
                  <a:moveTo>
                    <a:pt x="145923" y="0"/>
                  </a:moveTo>
                  <a:lnTo>
                    <a:pt x="583565" y="0"/>
                  </a:lnTo>
                  <a:cubicBezTo>
                    <a:pt x="664210" y="0"/>
                    <a:pt x="729488" y="65278"/>
                    <a:pt x="729488" y="145923"/>
                  </a:cubicBezTo>
                  <a:lnTo>
                    <a:pt x="729488" y="583565"/>
                  </a:lnTo>
                  <a:cubicBezTo>
                    <a:pt x="729488" y="664083"/>
                    <a:pt x="664210" y="729488"/>
                    <a:pt x="583565" y="729488"/>
                  </a:cubicBezTo>
                  <a:lnTo>
                    <a:pt x="145923" y="729488"/>
                  </a:lnTo>
                  <a:cubicBezTo>
                    <a:pt x="65278" y="729488"/>
                    <a:pt x="0" y="664210"/>
                    <a:pt x="0" y="583565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E1F5E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98525" y="3022921"/>
            <a:ext cx="218856" cy="218856"/>
          </a:xfrm>
          <a:custGeom>
            <a:avLst/>
            <a:gdLst/>
            <a:ahLst/>
            <a:cxnLst/>
            <a:rect r="r" b="b" t="t" l="l"/>
            <a:pathLst>
              <a:path h="218856" w="218856">
                <a:moveTo>
                  <a:pt x="0" y="0"/>
                </a:moveTo>
                <a:lnTo>
                  <a:pt x="218856" y="0"/>
                </a:lnTo>
                <a:lnTo>
                  <a:pt x="218856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45660" y="2957949"/>
            <a:ext cx="2656656" cy="447972"/>
            <a:chOff x="0" y="0"/>
            <a:chExt cx="3542208" cy="597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42205" cy="597302"/>
            </a:xfrm>
            <a:custGeom>
              <a:avLst/>
              <a:gdLst/>
              <a:ahLst/>
              <a:cxnLst/>
              <a:rect r="r" b="b" t="t" l="l"/>
              <a:pathLst>
                <a:path h="597302" w="3542205">
                  <a:moveTo>
                    <a:pt x="0" y="0"/>
                  </a:moveTo>
                  <a:lnTo>
                    <a:pt x="3542205" y="0"/>
                  </a:lnTo>
                  <a:lnTo>
                    <a:pt x="3542205" y="597302"/>
                  </a:lnTo>
                  <a:lnTo>
                    <a:pt x="0" y="5973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76" r="31006" b="-224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542208" cy="64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1"/>
                </a:lnSpc>
              </a:pPr>
              <a:r>
                <a:rPr lang="en-US" b="true" sz="215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Mode Presets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1736" y="3624777"/>
            <a:ext cx="7851391" cy="930126"/>
            <a:chOff x="0" y="0"/>
            <a:chExt cx="10468521" cy="12401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68483" cy="1240155"/>
            </a:xfrm>
            <a:custGeom>
              <a:avLst/>
              <a:gdLst/>
              <a:ahLst/>
              <a:cxnLst/>
              <a:rect r="r" b="b" t="t" l="l"/>
              <a:pathLst>
                <a:path h="1240155" w="10468483">
                  <a:moveTo>
                    <a:pt x="72898" y="0"/>
                  </a:moveTo>
                  <a:lnTo>
                    <a:pt x="10322560" y="0"/>
                  </a:lnTo>
                  <a:cubicBezTo>
                    <a:pt x="10403205" y="0"/>
                    <a:pt x="10468483" y="65278"/>
                    <a:pt x="10468483" y="145923"/>
                  </a:cubicBezTo>
                  <a:lnTo>
                    <a:pt x="10468483" y="1094232"/>
                  </a:lnTo>
                  <a:cubicBezTo>
                    <a:pt x="10468483" y="1174750"/>
                    <a:pt x="10403205" y="1240155"/>
                    <a:pt x="10322560" y="1240155"/>
                  </a:cubicBezTo>
                  <a:lnTo>
                    <a:pt x="72898" y="1240155"/>
                  </a:lnTo>
                  <a:cubicBezTo>
                    <a:pt x="32639" y="1240155"/>
                    <a:pt x="0" y="1207516"/>
                    <a:pt x="0" y="1167257"/>
                  </a:cubicBezTo>
                  <a:lnTo>
                    <a:pt x="0" y="72898"/>
                  </a:lnTo>
                  <a:cubicBezTo>
                    <a:pt x="0" y="32639"/>
                    <a:pt x="32639" y="0"/>
                    <a:pt x="72898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1736" y="3624777"/>
            <a:ext cx="54712" cy="930126"/>
            <a:chOff x="0" y="0"/>
            <a:chExt cx="72949" cy="1240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898" cy="1240155"/>
            </a:xfrm>
            <a:custGeom>
              <a:avLst/>
              <a:gdLst/>
              <a:ahLst/>
              <a:cxnLst/>
              <a:rect r="r" b="b" t="t" l="l"/>
              <a:pathLst>
                <a:path h="1240155" w="72898">
                  <a:moveTo>
                    <a:pt x="72898" y="0"/>
                  </a:moveTo>
                  <a:lnTo>
                    <a:pt x="72898" y="1240155"/>
                  </a:lnTo>
                  <a:cubicBezTo>
                    <a:pt x="32639" y="1240155"/>
                    <a:pt x="0" y="1207516"/>
                    <a:pt x="0" y="1167257"/>
                  </a:cubicBezTo>
                  <a:lnTo>
                    <a:pt x="0" y="72898"/>
                  </a:lnTo>
                  <a:cubicBezTo>
                    <a:pt x="0" y="32639"/>
                    <a:pt x="32639" y="0"/>
                    <a:pt x="72898" y="0"/>
                  </a:cubicBezTo>
                  <a:close/>
                </a:path>
              </a:pathLst>
            </a:custGeom>
            <a:solidFill>
              <a:srgbClr val="5DCAA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3236" y="3772683"/>
            <a:ext cx="2585218" cy="353075"/>
            <a:chOff x="0" y="0"/>
            <a:chExt cx="3446958" cy="4707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46962" cy="470769"/>
            </a:xfrm>
            <a:custGeom>
              <a:avLst/>
              <a:gdLst/>
              <a:ahLst/>
              <a:cxnLst/>
              <a:rect r="r" b="b" t="t" l="l"/>
              <a:pathLst>
                <a:path h="470769" w="3446962">
                  <a:moveTo>
                    <a:pt x="0" y="0"/>
                  </a:moveTo>
                  <a:lnTo>
                    <a:pt x="3446962" y="0"/>
                  </a:lnTo>
                  <a:lnTo>
                    <a:pt x="3446962" y="470769"/>
                  </a:lnTo>
                  <a:lnTo>
                    <a:pt x="0" y="4707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71" r="44444" b="-257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446958" cy="52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b="true" sz="1723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Analyst Mode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308762" y="3843623"/>
            <a:ext cx="218856" cy="218856"/>
          </a:xfrm>
          <a:custGeom>
            <a:avLst/>
            <a:gdLst/>
            <a:ahLst/>
            <a:cxnLst/>
            <a:rect r="r" b="b" t="t" l="l"/>
            <a:pathLst>
              <a:path h="218856" w="218856">
                <a:moveTo>
                  <a:pt x="0" y="0"/>
                </a:moveTo>
                <a:lnTo>
                  <a:pt x="218856" y="0"/>
                </a:lnTo>
                <a:lnTo>
                  <a:pt x="218856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53236" y="4171912"/>
            <a:ext cx="7577823" cy="263740"/>
            <a:chOff x="0" y="0"/>
            <a:chExt cx="10103764" cy="3516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03766" cy="351651"/>
            </a:xfrm>
            <a:custGeom>
              <a:avLst/>
              <a:gdLst/>
              <a:ahLst/>
              <a:cxnLst/>
              <a:rect r="r" b="b" t="t" l="l"/>
              <a:pathLst>
                <a:path h="351651" w="10103766">
                  <a:moveTo>
                    <a:pt x="0" y="0"/>
                  </a:moveTo>
                  <a:lnTo>
                    <a:pt x="10103766" y="0"/>
                  </a:lnTo>
                  <a:lnTo>
                    <a:pt x="10103766" y="351651"/>
                  </a:lnTo>
                  <a:lnTo>
                    <a:pt x="0" y="3516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8360" r="0" b="-5013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103764" cy="380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Full graph with all relationships and lineage visible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4380" y="4719037"/>
            <a:ext cx="7878747" cy="930126"/>
            <a:chOff x="0" y="0"/>
            <a:chExt cx="10504996" cy="12401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05059" cy="1240155"/>
            </a:xfrm>
            <a:custGeom>
              <a:avLst/>
              <a:gdLst/>
              <a:ahLst/>
              <a:cxnLst/>
              <a:rect r="r" b="b" t="t" l="l"/>
              <a:pathLst>
                <a:path h="1240155" w="10505059">
                  <a:moveTo>
                    <a:pt x="145923" y="0"/>
                  </a:moveTo>
                  <a:lnTo>
                    <a:pt x="10359136" y="0"/>
                  </a:lnTo>
                  <a:cubicBezTo>
                    <a:pt x="10439781" y="0"/>
                    <a:pt x="10505059" y="65278"/>
                    <a:pt x="10505059" y="145923"/>
                  </a:cubicBezTo>
                  <a:lnTo>
                    <a:pt x="10505059" y="1094232"/>
                  </a:lnTo>
                  <a:cubicBezTo>
                    <a:pt x="10505059" y="1174750"/>
                    <a:pt x="10439781" y="1240155"/>
                    <a:pt x="10359136" y="1240155"/>
                  </a:cubicBezTo>
                  <a:lnTo>
                    <a:pt x="145923" y="1240155"/>
                  </a:lnTo>
                  <a:cubicBezTo>
                    <a:pt x="65278" y="1240155"/>
                    <a:pt x="0" y="1174877"/>
                    <a:pt x="0" y="1094232"/>
                  </a:cubicBezTo>
                  <a:lnTo>
                    <a:pt x="0" y="145923"/>
                  </a:lnTo>
                  <a:cubicBezTo>
                    <a:pt x="0" y="65405"/>
                    <a:pt x="65405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98525" y="4866954"/>
            <a:ext cx="2757679" cy="353075"/>
            <a:chOff x="0" y="0"/>
            <a:chExt cx="3676905" cy="4707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76901" cy="470769"/>
            </a:xfrm>
            <a:custGeom>
              <a:avLst/>
              <a:gdLst/>
              <a:ahLst/>
              <a:cxnLst/>
              <a:rect r="r" b="b" t="t" l="l"/>
              <a:pathLst>
                <a:path h="470769" w="3676901">
                  <a:moveTo>
                    <a:pt x="0" y="0"/>
                  </a:moveTo>
                  <a:lnTo>
                    <a:pt x="3676901" y="0"/>
                  </a:lnTo>
                  <a:lnTo>
                    <a:pt x="3676901" y="470769"/>
                  </a:lnTo>
                  <a:lnTo>
                    <a:pt x="0" y="4707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320" r="42958" b="-332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676905" cy="52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723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Beginner Mode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8525" y="5266182"/>
            <a:ext cx="7632535" cy="263740"/>
            <a:chOff x="0" y="0"/>
            <a:chExt cx="10176713" cy="3516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76718" cy="351651"/>
            </a:xfrm>
            <a:custGeom>
              <a:avLst/>
              <a:gdLst/>
              <a:ahLst/>
              <a:cxnLst/>
              <a:rect r="r" b="b" t="t" l="l"/>
              <a:pathLst>
                <a:path h="351651" w="10176718">
                  <a:moveTo>
                    <a:pt x="0" y="0"/>
                  </a:moveTo>
                  <a:lnTo>
                    <a:pt x="10176718" y="0"/>
                  </a:lnTo>
                  <a:lnTo>
                    <a:pt x="10176718" y="351651"/>
                  </a:lnTo>
                  <a:lnTo>
                    <a:pt x="0" y="3516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402" r="0" b="-5053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176713" cy="380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888780"/>
                  </a:solidFill>
                  <a:latin typeface="Garet"/>
                  <a:ea typeface="Garet"/>
                  <a:cs typeface="Garet"/>
                  <a:sym typeface="Garet"/>
                </a:rPr>
                <a:t>Simplified view with key classes only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4380" y="5813317"/>
            <a:ext cx="7878747" cy="930126"/>
            <a:chOff x="0" y="0"/>
            <a:chExt cx="10504996" cy="12401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05059" cy="1240155"/>
            </a:xfrm>
            <a:custGeom>
              <a:avLst/>
              <a:gdLst/>
              <a:ahLst/>
              <a:cxnLst/>
              <a:rect r="r" b="b" t="t" l="l"/>
              <a:pathLst>
                <a:path h="1240155" w="10505059">
                  <a:moveTo>
                    <a:pt x="145923" y="0"/>
                  </a:moveTo>
                  <a:lnTo>
                    <a:pt x="10359136" y="0"/>
                  </a:lnTo>
                  <a:cubicBezTo>
                    <a:pt x="10439781" y="0"/>
                    <a:pt x="10505059" y="65278"/>
                    <a:pt x="10505059" y="145923"/>
                  </a:cubicBezTo>
                  <a:lnTo>
                    <a:pt x="10505059" y="1094232"/>
                  </a:lnTo>
                  <a:cubicBezTo>
                    <a:pt x="10505059" y="1174750"/>
                    <a:pt x="10439781" y="1240155"/>
                    <a:pt x="10359136" y="1240155"/>
                  </a:cubicBezTo>
                  <a:lnTo>
                    <a:pt x="145923" y="1240155"/>
                  </a:lnTo>
                  <a:cubicBezTo>
                    <a:pt x="65278" y="1240155"/>
                    <a:pt x="0" y="1174877"/>
                    <a:pt x="0" y="1094232"/>
                  </a:cubicBezTo>
                  <a:lnTo>
                    <a:pt x="0" y="145923"/>
                  </a:lnTo>
                  <a:cubicBezTo>
                    <a:pt x="0" y="65405"/>
                    <a:pt x="65405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8525" y="5961224"/>
            <a:ext cx="2509840" cy="353075"/>
            <a:chOff x="0" y="0"/>
            <a:chExt cx="3346453" cy="4707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46456" cy="470769"/>
            </a:xfrm>
            <a:custGeom>
              <a:avLst/>
              <a:gdLst/>
              <a:ahLst/>
              <a:cxnLst/>
              <a:rect r="r" b="b" t="t" l="l"/>
              <a:pathLst>
                <a:path h="470769" w="3346456">
                  <a:moveTo>
                    <a:pt x="0" y="0"/>
                  </a:moveTo>
                  <a:lnTo>
                    <a:pt x="3346456" y="0"/>
                  </a:lnTo>
                  <a:lnTo>
                    <a:pt x="3346456" y="470769"/>
                  </a:lnTo>
                  <a:lnTo>
                    <a:pt x="0" y="4707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49" r="34056" b="-378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3346453" cy="52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723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Technical Mode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8525" y="6360452"/>
            <a:ext cx="7632535" cy="263740"/>
            <a:chOff x="0" y="0"/>
            <a:chExt cx="10176713" cy="3516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176718" cy="351651"/>
            </a:xfrm>
            <a:custGeom>
              <a:avLst/>
              <a:gdLst/>
              <a:ahLst/>
              <a:cxnLst/>
              <a:rect r="r" b="b" t="t" l="l"/>
              <a:pathLst>
                <a:path h="351651" w="10176718">
                  <a:moveTo>
                    <a:pt x="0" y="0"/>
                  </a:moveTo>
                  <a:lnTo>
                    <a:pt x="10176718" y="0"/>
                  </a:lnTo>
                  <a:lnTo>
                    <a:pt x="10176718" y="351651"/>
                  </a:lnTo>
                  <a:lnTo>
                    <a:pt x="0" y="3516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402" r="0" b="-50538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176713" cy="380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888780"/>
                  </a:solidFill>
                  <a:latin typeface="Garet"/>
                  <a:ea typeface="Garet"/>
                  <a:cs typeface="Garet"/>
                  <a:sym typeface="Garet"/>
                </a:rPr>
                <a:t>Focus on implementation-relevant connections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544449" y="7246858"/>
            <a:ext cx="8458610" cy="3041971"/>
          </a:xfrm>
          <a:custGeom>
            <a:avLst/>
            <a:gdLst/>
            <a:ahLst/>
            <a:cxnLst/>
            <a:rect r="r" b="b" t="t" l="l"/>
            <a:pathLst>
              <a:path h="3041971" w="8458610">
                <a:moveTo>
                  <a:pt x="0" y="0"/>
                </a:moveTo>
                <a:lnTo>
                  <a:pt x="8458610" y="0"/>
                </a:lnTo>
                <a:lnTo>
                  <a:pt x="8458610" y="3041971"/>
                </a:lnTo>
                <a:lnTo>
                  <a:pt x="0" y="30419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834380" y="7536790"/>
            <a:ext cx="547135" cy="547135"/>
            <a:chOff x="0" y="0"/>
            <a:chExt cx="729513" cy="72951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9488" cy="729488"/>
            </a:xfrm>
            <a:custGeom>
              <a:avLst/>
              <a:gdLst/>
              <a:ahLst/>
              <a:cxnLst/>
              <a:rect r="r" b="b" t="t" l="l"/>
              <a:pathLst>
                <a:path h="729488" w="729488">
                  <a:moveTo>
                    <a:pt x="145923" y="0"/>
                  </a:moveTo>
                  <a:lnTo>
                    <a:pt x="583565" y="0"/>
                  </a:lnTo>
                  <a:cubicBezTo>
                    <a:pt x="664210" y="0"/>
                    <a:pt x="729488" y="65278"/>
                    <a:pt x="729488" y="145923"/>
                  </a:cubicBezTo>
                  <a:lnTo>
                    <a:pt x="729488" y="583565"/>
                  </a:lnTo>
                  <a:cubicBezTo>
                    <a:pt x="729488" y="664083"/>
                    <a:pt x="664210" y="729488"/>
                    <a:pt x="583565" y="729488"/>
                  </a:cubicBezTo>
                  <a:lnTo>
                    <a:pt x="145923" y="729488"/>
                  </a:lnTo>
                  <a:cubicBezTo>
                    <a:pt x="65278" y="729488"/>
                    <a:pt x="0" y="664210"/>
                    <a:pt x="0" y="583565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EEEDF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98525" y="7700934"/>
            <a:ext cx="218856" cy="218856"/>
            <a:chOff x="0" y="0"/>
            <a:chExt cx="291808" cy="2918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1973" cy="291719"/>
            </a:xfrm>
            <a:custGeom>
              <a:avLst/>
              <a:gdLst/>
              <a:ahLst/>
              <a:cxnLst/>
              <a:rect r="r" b="b" t="t" l="l"/>
              <a:pathLst>
                <a:path h="291719" w="291973">
                  <a:moveTo>
                    <a:pt x="227076" y="6985"/>
                  </a:moveTo>
                  <a:lnTo>
                    <a:pt x="176911" y="57277"/>
                  </a:lnTo>
                  <a:lnTo>
                    <a:pt x="234696" y="115062"/>
                  </a:lnTo>
                  <a:lnTo>
                    <a:pt x="284988" y="64770"/>
                  </a:lnTo>
                  <a:cubicBezTo>
                    <a:pt x="289433" y="60325"/>
                    <a:pt x="291973" y="54229"/>
                    <a:pt x="291973" y="48006"/>
                  </a:cubicBezTo>
                  <a:cubicBezTo>
                    <a:pt x="291973" y="41783"/>
                    <a:pt x="289433" y="35687"/>
                    <a:pt x="284988" y="31242"/>
                  </a:cubicBezTo>
                  <a:lnTo>
                    <a:pt x="260731" y="6985"/>
                  </a:lnTo>
                  <a:cubicBezTo>
                    <a:pt x="256286" y="2540"/>
                    <a:pt x="250190" y="0"/>
                    <a:pt x="243967" y="0"/>
                  </a:cubicBezTo>
                  <a:cubicBezTo>
                    <a:pt x="237744" y="0"/>
                    <a:pt x="231648" y="2540"/>
                    <a:pt x="227203" y="6985"/>
                  </a:cubicBezTo>
                  <a:close/>
                  <a:moveTo>
                    <a:pt x="157480" y="76581"/>
                  </a:moveTo>
                  <a:lnTo>
                    <a:pt x="6985" y="227076"/>
                  </a:lnTo>
                  <a:cubicBezTo>
                    <a:pt x="2540" y="231521"/>
                    <a:pt x="0" y="237617"/>
                    <a:pt x="0" y="243840"/>
                  </a:cubicBezTo>
                  <a:cubicBezTo>
                    <a:pt x="0" y="250063"/>
                    <a:pt x="2540" y="256159"/>
                    <a:pt x="6985" y="260604"/>
                  </a:cubicBezTo>
                  <a:lnTo>
                    <a:pt x="31115" y="284734"/>
                  </a:lnTo>
                  <a:cubicBezTo>
                    <a:pt x="35560" y="289179"/>
                    <a:pt x="41656" y="291719"/>
                    <a:pt x="47879" y="291719"/>
                  </a:cubicBezTo>
                  <a:cubicBezTo>
                    <a:pt x="54102" y="291719"/>
                    <a:pt x="60198" y="289179"/>
                    <a:pt x="64643" y="284734"/>
                  </a:cubicBezTo>
                  <a:lnTo>
                    <a:pt x="215265" y="134239"/>
                  </a:lnTo>
                  <a:lnTo>
                    <a:pt x="157480" y="76581"/>
                  </a:lnTo>
                  <a:close/>
                </a:path>
              </a:pathLst>
            </a:custGeom>
            <a:solidFill>
              <a:srgbClr val="3C348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45660" y="7618857"/>
            <a:ext cx="2092795" cy="447972"/>
            <a:chOff x="0" y="0"/>
            <a:chExt cx="2790393" cy="5972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90390" cy="597302"/>
            </a:xfrm>
            <a:custGeom>
              <a:avLst/>
              <a:gdLst/>
              <a:ahLst/>
              <a:cxnLst/>
              <a:rect r="r" b="b" t="t" l="l"/>
              <a:pathLst>
                <a:path h="597302" w="2790390">
                  <a:moveTo>
                    <a:pt x="0" y="0"/>
                  </a:moveTo>
                  <a:lnTo>
                    <a:pt x="2790390" y="0"/>
                  </a:lnTo>
                  <a:lnTo>
                    <a:pt x="2790390" y="597302"/>
                  </a:lnTo>
                  <a:lnTo>
                    <a:pt x="0" y="5973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280" r="0" b="-3377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790393" cy="64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1"/>
                </a:lnSpc>
              </a:pPr>
              <a:r>
                <a:rPr lang="en-US" b="true" sz="215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Controls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831461" y="8302781"/>
            <a:ext cx="3884657" cy="492423"/>
            <a:chOff x="0" y="0"/>
            <a:chExt cx="5179543" cy="65656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83588" y="8302781"/>
            <a:ext cx="3980412" cy="492422"/>
            <a:chOff x="0" y="0"/>
            <a:chExt cx="5307216" cy="65656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07214" cy="656559"/>
            </a:xfrm>
            <a:custGeom>
              <a:avLst/>
              <a:gdLst/>
              <a:ahLst/>
              <a:cxnLst/>
              <a:rect r="r" b="b" t="t" l="l"/>
              <a:pathLst>
                <a:path h="656559" w="5307214">
                  <a:moveTo>
                    <a:pt x="0" y="0"/>
                  </a:moveTo>
                  <a:lnTo>
                    <a:pt x="5307214" y="0"/>
                  </a:lnTo>
                  <a:lnTo>
                    <a:pt x="5307214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0" b="-1075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5307216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Show All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34380" y="8904627"/>
            <a:ext cx="3884657" cy="492423"/>
            <a:chOff x="0" y="0"/>
            <a:chExt cx="5179543" cy="65656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07948" y="8904627"/>
            <a:ext cx="3113665" cy="492422"/>
            <a:chOff x="0" y="0"/>
            <a:chExt cx="4151554" cy="65656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51552" cy="656559"/>
            </a:xfrm>
            <a:custGeom>
              <a:avLst/>
              <a:gdLst/>
              <a:ahLst/>
              <a:cxnLst/>
              <a:rect r="r" b="b" t="t" l="l"/>
              <a:pathLst>
                <a:path h="656559" w="4151552">
                  <a:moveTo>
                    <a:pt x="0" y="0"/>
                  </a:moveTo>
                  <a:lnTo>
                    <a:pt x="4151552" y="0"/>
                  </a:lnTo>
                  <a:lnTo>
                    <a:pt x="4151552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-27836" b="-1075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151554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Classes Only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831461" y="8904627"/>
            <a:ext cx="3884657" cy="492423"/>
            <a:chOff x="0" y="0"/>
            <a:chExt cx="5179543" cy="6565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783588" y="8904627"/>
            <a:ext cx="3980412" cy="492422"/>
            <a:chOff x="0" y="0"/>
            <a:chExt cx="5307216" cy="65656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07214" cy="656559"/>
            </a:xfrm>
            <a:custGeom>
              <a:avLst/>
              <a:gdLst/>
              <a:ahLst/>
              <a:cxnLst/>
              <a:rect r="r" b="b" t="t" l="l"/>
              <a:pathLst>
                <a:path h="656559" w="5307214">
                  <a:moveTo>
                    <a:pt x="0" y="0"/>
                  </a:moveTo>
                  <a:lnTo>
                    <a:pt x="5307214" y="0"/>
                  </a:lnTo>
                  <a:lnTo>
                    <a:pt x="5307214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0" b="-1075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5307216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Profile Hierarchy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34380" y="9506474"/>
            <a:ext cx="3884657" cy="492423"/>
            <a:chOff x="0" y="0"/>
            <a:chExt cx="5179543" cy="6565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86508" y="9506474"/>
            <a:ext cx="3980412" cy="492422"/>
            <a:chOff x="0" y="0"/>
            <a:chExt cx="5307216" cy="65656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07214" cy="656559"/>
            </a:xfrm>
            <a:custGeom>
              <a:avLst/>
              <a:gdLst/>
              <a:ahLst/>
              <a:cxnLst/>
              <a:rect r="r" b="b" t="t" l="l"/>
              <a:pathLst>
                <a:path h="656559" w="5307214">
                  <a:moveTo>
                    <a:pt x="0" y="0"/>
                  </a:moveTo>
                  <a:lnTo>
                    <a:pt x="5307214" y="0"/>
                  </a:lnTo>
                  <a:lnTo>
                    <a:pt x="5307214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0" b="-10750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5307216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Show Mandatory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831461" y="9506474"/>
            <a:ext cx="3884657" cy="492423"/>
            <a:chOff x="0" y="0"/>
            <a:chExt cx="5179543" cy="65656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83588" y="9506474"/>
            <a:ext cx="3980412" cy="492422"/>
            <a:chOff x="0" y="0"/>
            <a:chExt cx="5307216" cy="65656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214" cy="656559"/>
            </a:xfrm>
            <a:custGeom>
              <a:avLst/>
              <a:gdLst/>
              <a:ahLst/>
              <a:cxnLst/>
              <a:rect r="r" b="b" t="t" l="l"/>
              <a:pathLst>
                <a:path h="656559" w="5307214">
                  <a:moveTo>
                    <a:pt x="0" y="0"/>
                  </a:moveTo>
                  <a:lnTo>
                    <a:pt x="5307214" y="0"/>
                  </a:lnTo>
                  <a:lnTo>
                    <a:pt x="5307214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0" b="-10750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5307216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Show Optional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9277245" y="2568854"/>
            <a:ext cx="8458610" cy="4464529"/>
          </a:xfrm>
          <a:custGeom>
            <a:avLst/>
            <a:gdLst/>
            <a:ahLst/>
            <a:cxnLst/>
            <a:rect r="r" b="b" t="t" l="l"/>
            <a:pathLst>
              <a:path h="4464529" w="8458610">
                <a:moveTo>
                  <a:pt x="0" y="0"/>
                </a:moveTo>
                <a:lnTo>
                  <a:pt x="8458610" y="0"/>
                </a:lnTo>
                <a:lnTo>
                  <a:pt x="8458610" y="4464530"/>
                </a:lnTo>
                <a:lnTo>
                  <a:pt x="0" y="4464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-28799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9567177" y="2858786"/>
            <a:ext cx="547135" cy="547135"/>
            <a:chOff x="0" y="0"/>
            <a:chExt cx="729513" cy="72951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29488" cy="729488"/>
            </a:xfrm>
            <a:custGeom>
              <a:avLst/>
              <a:gdLst/>
              <a:ahLst/>
              <a:cxnLst/>
              <a:rect r="r" b="b" t="t" l="l"/>
              <a:pathLst>
                <a:path h="729488" w="729488">
                  <a:moveTo>
                    <a:pt x="145923" y="0"/>
                  </a:moveTo>
                  <a:lnTo>
                    <a:pt x="583565" y="0"/>
                  </a:lnTo>
                  <a:cubicBezTo>
                    <a:pt x="664210" y="0"/>
                    <a:pt x="729488" y="65278"/>
                    <a:pt x="729488" y="145923"/>
                  </a:cubicBezTo>
                  <a:lnTo>
                    <a:pt x="729488" y="583565"/>
                  </a:lnTo>
                  <a:cubicBezTo>
                    <a:pt x="729488" y="664083"/>
                    <a:pt x="664210" y="729488"/>
                    <a:pt x="583565" y="729488"/>
                  </a:cubicBezTo>
                  <a:lnTo>
                    <a:pt x="145923" y="729488"/>
                  </a:lnTo>
                  <a:cubicBezTo>
                    <a:pt x="65278" y="729488"/>
                    <a:pt x="0" y="664210"/>
                    <a:pt x="0" y="583565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AEEDA"/>
            </a:solidFill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9744999" y="3022921"/>
            <a:ext cx="191500" cy="218856"/>
          </a:xfrm>
          <a:custGeom>
            <a:avLst/>
            <a:gdLst/>
            <a:ahLst/>
            <a:cxnLst/>
            <a:rect r="r" b="b" t="t" l="l"/>
            <a:pathLst>
              <a:path h="218856" w="191500">
                <a:moveTo>
                  <a:pt x="0" y="0"/>
                </a:moveTo>
                <a:lnTo>
                  <a:pt x="191500" y="0"/>
                </a:lnTo>
                <a:lnTo>
                  <a:pt x="191500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10278456" y="2940853"/>
            <a:ext cx="3228094" cy="447972"/>
            <a:chOff x="0" y="0"/>
            <a:chExt cx="4304125" cy="59729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04118" cy="597302"/>
            </a:xfrm>
            <a:custGeom>
              <a:avLst/>
              <a:gdLst/>
              <a:ahLst/>
              <a:cxnLst/>
              <a:rect r="r" b="b" t="t" l="l"/>
              <a:pathLst>
                <a:path h="597302" w="4304118">
                  <a:moveTo>
                    <a:pt x="0" y="0"/>
                  </a:moveTo>
                  <a:lnTo>
                    <a:pt x="4304118" y="0"/>
                  </a:lnTo>
                  <a:lnTo>
                    <a:pt x="4304118" y="597302"/>
                  </a:lnTo>
                  <a:lnTo>
                    <a:pt x="0" y="5973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191" r="44491" b="-2068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304125" cy="64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1"/>
                </a:lnSpc>
              </a:pPr>
              <a:r>
                <a:rPr lang="en-US" b="true" sz="215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Suggested Next View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67177" y="4965259"/>
            <a:ext cx="7878747" cy="820703"/>
            <a:chOff x="0" y="0"/>
            <a:chExt cx="10504996" cy="10942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505059" cy="1094232"/>
            </a:xfrm>
            <a:custGeom>
              <a:avLst/>
              <a:gdLst/>
              <a:ahLst/>
              <a:cxnLst/>
              <a:rect r="r" b="b" t="t" l="l"/>
              <a:pathLst>
                <a:path h="1094232" w="10505059">
                  <a:moveTo>
                    <a:pt x="145923" y="0"/>
                  </a:moveTo>
                  <a:lnTo>
                    <a:pt x="10359136" y="0"/>
                  </a:lnTo>
                  <a:cubicBezTo>
                    <a:pt x="10439654" y="0"/>
                    <a:pt x="10505059" y="65405"/>
                    <a:pt x="10505059" y="145923"/>
                  </a:cubicBezTo>
                  <a:lnTo>
                    <a:pt x="10505059" y="948309"/>
                  </a:lnTo>
                  <a:cubicBezTo>
                    <a:pt x="10505059" y="1028827"/>
                    <a:pt x="10439654" y="1094232"/>
                    <a:pt x="10359136" y="1094232"/>
                  </a:cubicBezTo>
                  <a:lnTo>
                    <a:pt x="145923" y="1094232"/>
                  </a:lnTo>
                  <a:cubicBezTo>
                    <a:pt x="65405" y="1094232"/>
                    <a:pt x="0" y="1028954"/>
                    <a:pt x="0" y="948309"/>
                  </a:cubicBezTo>
                  <a:lnTo>
                    <a:pt x="0" y="145923"/>
                  </a:lnTo>
                  <a:cubicBezTo>
                    <a:pt x="0" y="65405"/>
                    <a:pt x="65405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sp>
        <p:nvSpPr>
          <p:cNvPr name="Freeform 90" id="90"/>
          <p:cNvSpPr/>
          <p:nvPr/>
        </p:nvSpPr>
        <p:spPr>
          <a:xfrm flipH="false" flipV="false" rot="0">
            <a:off x="9758677" y="5184115"/>
            <a:ext cx="218856" cy="218856"/>
          </a:xfrm>
          <a:custGeom>
            <a:avLst/>
            <a:gdLst/>
            <a:ahLst/>
            <a:cxnLst/>
            <a:rect r="r" b="b" t="t" l="l"/>
            <a:pathLst>
              <a:path h="218856" w="218856">
                <a:moveTo>
                  <a:pt x="0" y="0"/>
                </a:moveTo>
                <a:lnTo>
                  <a:pt x="218856" y="0"/>
                </a:lnTo>
                <a:lnTo>
                  <a:pt x="218856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0169023" y="5129403"/>
            <a:ext cx="3570056" cy="306905"/>
            <a:chOff x="0" y="0"/>
            <a:chExt cx="4760074" cy="40920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60078" cy="409206"/>
            </a:xfrm>
            <a:custGeom>
              <a:avLst/>
              <a:gdLst/>
              <a:ahLst/>
              <a:cxnLst/>
              <a:rect r="r" b="b" t="t" l="l"/>
              <a:pathLst>
                <a:path h="409206" w="4760078">
                  <a:moveTo>
                    <a:pt x="0" y="0"/>
                  </a:moveTo>
                  <a:lnTo>
                    <a:pt x="4760078" y="0"/>
                  </a:lnTo>
                  <a:lnTo>
                    <a:pt x="4760078" y="409206"/>
                  </a:lnTo>
                  <a:lnTo>
                    <a:pt x="0" y="4092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090" r="0" b="-17122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4760074" cy="437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Class Suggestion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69023" y="5348478"/>
            <a:ext cx="5752086" cy="353978"/>
            <a:chOff x="0" y="0"/>
            <a:chExt cx="4741837" cy="29180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741840" cy="291806"/>
            </a:xfrm>
            <a:custGeom>
              <a:avLst/>
              <a:gdLst/>
              <a:ahLst/>
              <a:cxnLst/>
              <a:rect r="r" b="b" t="t" l="l"/>
              <a:pathLst>
                <a:path h="291806" w="4741840">
                  <a:moveTo>
                    <a:pt x="0" y="0"/>
                  </a:moveTo>
                  <a:lnTo>
                    <a:pt x="4741840" y="0"/>
                  </a:lnTo>
                  <a:lnTo>
                    <a:pt x="4741840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630" r="0" b="-26663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4741837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Suggest to view Another important Class Next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9275116" y="7312140"/>
            <a:ext cx="8458610" cy="2966128"/>
          </a:xfrm>
          <a:custGeom>
            <a:avLst/>
            <a:gdLst/>
            <a:ahLst/>
            <a:cxnLst/>
            <a:rect r="r" b="b" t="t" l="l"/>
            <a:pathLst>
              <a:path h="2966128" w="8458610">
                <a:moveTo>
                  <a:pt x="0" y="0"/>
                </a:moveTo>
                <a:lnTo>
                  <a:pt x="8458610" y="0"/>
                </a:lnTo>
                <a:lnTo>
                  <a:pt x="8458610" y="2966128"/>
                </a:lnTo>
                <a:lnTo>
                  <a:pt x="0" y="296612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34447" t="0" r="-34447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9567177" y="7609332"/>
            <a:ext cx="547135" cy="547135"/>
            <a:chOff x="0" y="0"/>
            <a:chExt cx="729513" cy="72951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29488" cy="729488"/>
            </a:xfrm>
            <a:custGeom>
              <a:avLst/>
              <a:gdLst/>
              <a:ahLst/>
              <a:cxnLst/>
              <a:rect r="r" b="b" t="t" l="l"/>
              <a:pathLst>
                <a:path h="729488" w="729488">
                  <a:moveTo>
                    <a:pt x="145923" y="0"/>
                  </a:moveTo>
                  <a:lnTo>
                    <a:pt x="583565" y="0"/>
                  </a:lnTo>
                  <a:cubicBezTo>
                    <a:pt x="664210" y="0"/>
                    <a:pt x="729488" y="65278"/>
                    <a:pt x="729488" y="145923"/>
                  </a:cubicBezTo>
                  <a:lnTo>
                    <a:pt x="729488" y="583565"/>
                  </a:lnTo>
                  <a:cubicBezTo>
                    <a:pt x="729488" y="664083"/>
                    <a:pt x="664210" y="729488"/>
                    <a:pt x="583565" y="729488"/>
                  </a:cubicBezTo>
                  <a:lnTo>
                    <a:pt x="145923" y="729488"/>
                  </a:lnTo>
                  <a:cubicBezTo>
                    <a:pt x="65278" y="729488"/>
                    <a:pt x="0" y="664210"/>
                    <a:pt x="0" y="583565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E6F1FB"/>
            </a:solidFill>
          </p:spPr>
        </p:sp>
      </p:grpSp>
      <p:sp>
        <p:nvSpPr>
          <p:cNvPr name="Freeform 100" id="100"/>
          <p:cNvSpPr/>
          <p:nvPr/>
        </p:nvSpPr>
        <p:spPr>
          <a:xfrm flipH="false" flipV="false" rot="0">
            <a:off x="9731312" y="7791312"/>
            <a:ext cx="218856" cy="218856"/>
          </a:xfrm>
          <a:custGeom>
            <a:avLst/>
            <a:gdLst/>
            <a:ahLst/>
            <a:cxnLst/>
            <a:rect r="r" b="b" t="t" l="l"/>
            <a:pathLst>
              <a:path h="218856" w="218856">
                <a:moveTo>
                  <a:pt x="0" y="0"/>
                </a:moveTo>
                <a:lnTo>
                  <a:pt x="218855" y="0"/>
                </a:lnTo>
                <a:lnTo>
                  <a:pt x="218855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10278456" y="7680773"/>
            <a:ext cx="2492864" cy="403151"/>
            <a:chOff x="0" y="0"/>
            <a:chExt cx="3323819" cy="53753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323820" cy="537541"/>
            </a:xfrm>
            <a:custGeom>
              <a:avLst/>
              <a:gdLst/>
              <a:ahLst/>
              <a:cxnLst/>
              <a:rect r="r" b="b" t="t" l="l"/>
              <a:pathLst>
                <a:path h="537541" w="3323820">
                  <a:moveTo>
                    <a:pt x="0" y="0"/>
                  </a:moveTo>
                  <a:lnTo>
                    <a:pt x="3323820" y="0"/>
                  </a:lnTo>
                  <a:lnTo>
                    <a:pt x="3323820" y="537541"/>
                  </a:lnTo>
                  <a:lnTo>
                    <a:pt x="0" y="5375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054" r="23181" b="-4005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3323819" cy="604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b="true" sz="1938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Graph Elements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9469241" y="8715251"/>
            <a:ext cx="1414243" cy="470440"/>
          </a:xfrm>
          <a:custGeom>
            <a:avLst/>
            <a:gdLst/>
            <a:ahLst/>
            <a:cxnLst/>
            <a:rect r="r" b="b" t="t" l="l"/>
            <a:pathLst>
              <a:path h="470440" w="1414243">
                <a:moveTo>
                  <a:pt x="0" y="0"/>
                </a:moveTo>
                <a:lnTo>
                  <a:pt x="1414243" y="0"/>
                </a:lnTo>
                <a:lnTo>
                  <a:pt x="1414243" y="470440"/>
                </a:lnTo>
                <a:lnTo>
                  <a:pt x="0" y="47044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9567177" y="8713127"/>
            <a:ext cx="1477270" cy="437709"/>
            <a:chOff x="0" y="0"/>
            <a:chExt cx="1969694" cy="58361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69688" cy="583608"/>
            </a:xfrm>
            <a:custGeom>
              <a:avLst/>
              <a:gdLst/>
              <a:ahLst/>
              <a:cxnLst/>
              <a:rect r="r" b="b" t="t" l="l"/>
              <a:pathLst>
                <a:path h="583608" w="1969688">
                  <a:moveTo>
                    <a:pt x="0" y="0"/>
                  </a:moveTo>
                  <a:lnTo>
                    <a:pt x="1969688" y="0"/>
                  </a:lnTo>
                  <a:lnTo>
                    <a:pt x="1969688" y="583608"/>
                  </a:lnTo>
                  <a:lnTo>
                    <a:pt x="0" y="5836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1" r="0" b="-1576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1969694" cy="612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3C3489"/>
                  </a:solidFill>
                  <a:latin typeface="Garet"/>
                  <a:ea typeface="Garet"/>
                  <a:cs typeface="Garet"/>
                  <a:sym typeface="Garet"/>
                </a:rPr>
                <a:t>Class Profile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0978734" y="8731615"/>
            <a:ext cx="1687811" cy="470440"/>
          </a:xfrm>
          <a:custGeom>
            <a:avLst/>
            <a:gdLst/>
            <a:ahLst/>
            <a:cxnLst/>
            <a:rect r="r" b="b" t="t" l="l"/>
            <a:pathLst>
              <a:path h="470440" w="1687811">
                <a:moveTo>
                  <a:pt x="0" y="0"/>
                </a:moveTo>
                <a:lnTo>
                  <a:pt x="1687811" y="0"/>
                </a:lnTo>
                <a:lnTo>
                  <a:pt x="1687811" y="470440"/>
                </a:lnTo>
                <a:lnTo>
                  <a:pt x="0" y="47044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11063497" y="8731615"/>
            <a:ext cx="1750828" cy="437709"/>
            <a:chOff x="0" y="0"/>
            <a:chExt cx="2334438" cy="58361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34444" cy="583608"/>
            </a:xfrm>
            <a:custGeom>
              <a:avLst/>
              <a:gdLst/>
              <a:ahLst/>
              <a:cxnLst/>
              <a:rect r="r" b="b" t="t" l="l"/>
              <a:pathLst>
                <a:path h="583608" w="2334444">
                  <a:moveTo>
                    <a:pt x="0" y="0"/>
                  </a:moveTo>
                  <a:lnTo>
                    <a:pt x="2334444" y="0"/>
                  </a:lnTo>
                  <a:lnTo>
                    <a:pt x="2334444" y="583608"/>
                  </a:lnTo>
                  <a:lnTo>
                    <a:pt x="0" y="5836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334438" cy="612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085041"/>
                  </a:solidFill>
                  <a:latin typeface="Garet"/>
                  <a:ea typeface="Garet"/>
                  <a:cs typeface="Garet"/>
                  <a:sym typeface="Garet"/>
                </a:rPr>
                <a:t>Property Profile</a:t>
              </a: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15199323" y="8669407"/>
            <a:ext cx="894464" cy="470440"/>
          </a:xfrm>
          <a:custGeom>
            <a:avLst/>
            <a:gdLst/>
            <a:ahLst/>
            <a:cxnLst/>
            <a:rect r="r" b="b" t="t" l="l"/>
            <a:pathLst>
              <a:path h="470440" w="894464">
                <a:moveTo>
                  <a:pt x="0" y="0"/>
                </a:moveTo>
                <a:lnTo>
                  <a:pt x="894465" y="0"/>
                </a:lnTo>
                <a:lnTo>
                  <a:pt x="894465" y="470440"/>
                </a:lnTo>
                <a:lnTo>
                  <a:pt x="0" y="4704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15315556" y="8722090"/>
            <a:ext cx="778232" cy="437709"/>
            <a:chOff x="0" y="0"/>
            <a:chExt cx="1037643" cy="5836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37639" cy="583608"/>
            </a:xfrm>
            <a:custGeom>
              <a:avLst/>
              <a:gdLst/>
              <a:ahLst/>
              <a:cxnLst/>
              <a:rect r="r" b="b" t="t" l="l"/>
              <a:pathLst>
                <a:path h="583608" w="1037639">
                  <a:moveTo>
                    <a:pt x="0" y="0"/>
                  </a:moveTo>
                  <a:lnTo>
                    <a:pt x="1037639" y="0"/>
                  </a:lnTo>
                  <a:lnTo>
                    <a:pt x="1037639" y="583608"/>
                  </a:lnTo>
                  <a:lnTo>
                    <a:pt x="0" y="5836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646" t="0" r="-33681" b="-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037643" cy="612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633806"/>
                  </a:solidFill>
                  <a:latin typeface="Garet"/>
                  <a:ea typeface="Garet"/>
                  <a:cs typeface="Garet"/>
                  <a:sym typeface="Garet"/>
                </a:rPr>
                <a:t>Literal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15083" y="8275420"/>
            <a:ext cx="3884657" cy="492423"/>
            <a:chOff x="0" y="0"/>
            <a:chExt cx="5179543" cy="65656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179568" cy="656590"/>
            </a:xfrm>
            <a:custGeom>
              <a:avLst/>
              <a:gdLst/>
              <a:ahLst/>
              <a:cxnLst/>
              <a:rect r="r" b="b" t="t" l="l"/>
              <a:pathLst>
                <a:path h="656590" w="5179568">
                  <a:moveTo>
                    <a:pt x="145923" y="0"/>
                  </a:moveTo>
                  <a:lnTo>
                    <a:pt x="5033645" y="0"/>
                  </a:lnTo>
                  <a:cubicBezTo>
                    <a:pt x="5114163" y="0"/>
                    <a:pt x="5179568" y="65278"/>
                    <a:pt x="5179568" y="145923"/>
                  </a:cubicBezTo>
                  <a:lnTo>
                    <a:pt x="5179568" y="510667"/>
                  </a:lnTo>
                  <a:cubicBezTo>
                    <a:pt x="5179568" y="591185"/>
                    <a:pt x="5114290" y="656590"/>
                    <a:pt x="5033645" y="656590"/>
                  </a:cubicBezTo>
                  <a:lnTo>
                    <a:pt x="145923" y="656590"/>
                  </a:lnTo>
                  <a:cubicBezTo>
                    <a:pt x="65405" y="656590"/>
                    <a:pt x="0" y="591185"/>
                    <a:pt x="0" y="510667"/>
                  </a:cubicBezTo>
                  <a:lnTo>
                    <a:pt x="0" y="145923"/>
                  </a:lnTo>
                  <a:cubicBezTo>
                    <a:pt x="0" y="65278"/>
                    <a:pt x="65278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88650" y="8275420"/>
            <a:ext cx="3113665" cy="492422"/>
            <a:chOff x="0" y="0"/>
            <a:chExt cx="4151554" cy="65656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151552" cy="656559"/>
            </a:xfrm>
            <a:custGeom>
              <a:avLst/>
              <a:gdLst/>
              <a:ahLst/>
              <a:cxnLst/>
              <a:rect r="r" b="b" t="t" l="l"/>
              <a:pathLst>
                <a:path h="656559" w="4151552">
                  <a:moveTo>
                    <a:pt x="0" y="0"/>
                  </a:moveTo>
                  <a:lnTo>
                    <a:pt x="4151552" y="0"/>
                  </a:lnTo>
                  <a:lnTo>
                    <a:pt x="4151552" y="656559"/>
                  </a:lnTo>
                  <a:lnTo>
                    <a:pt x="0" y="656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504" r="-27836" b="-107505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4151554" cy="685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0"/>
                </a:lnSpc>
              </a:pPr>
              <a:r>
                <a:rPr lang="en-US" sz="1507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Reset View</a:t>
              </a:r>
            </a:p>
          </p:txBody>
        </p:sp>
      </p:grpSp>
      <p:sp>
        <p:nvSpPr>
          <p:cNvPr name="Freeform 121" id="121"/>
          <p:cNvSpPr/>
          <p:nvPr/>
        </p:nvSpPr>
        <p:spPr>
          <a:xfrm flipH="false" flipV="false" rot="0">
            <a:off x="12771320" y="8722090"/>
            <a:ext cx="894464" cy="470440"/>
          </a:xfrm>
          <a:custGeom>
            <a:avLst/>
            <a:gdLst/>
            <a:ahLst/>
            <a:cxnLst/>
            <a:rect r="r" b="b" t="t" l="l"/>
            <a:pathLst>
              <a:path h="470440" w="894464">
                <a:moveTo>
                  <a:pt x="0" y="0"/>
                </a:moveTo>
                <a:lnTo>
                  <a:pt x="894464" y="0"/>
                </a:lnTo>
                <a:lnTo>
                  <a:pt x="894464" y="470440"/>
                </a:lnTo>
                <a:lnTo>
                  <a:pt x="0" y="47044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0">
            <a:off x="12985775" y="8747980"/>
            <a:ext cx="805091" cy="381464"/>
            <a:chOff x="0" y="0"/>
            <a:chExt cx="1073455" cy="50861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73451" cy="508615"/>
            </a:xfrm>
            <a:custGeom>
              <a:avLst/>
              <a:gdLst/>
              <a:ahLst/>
              <a:cxnLst/>
              <a:rect r="r" b="b" t="t" l="l"/>
              <a:pathLst>
                <a:path h="508615" w="1073451">
                  <a:moveTo>
                    <a:pt x="0" y="0"/>
                  </a:moveTo>
                  <a:lnTo>
                    <a:pt x="1073451" y="0"/>
                  </a:lnTo>
                  <a:lnTo>
                    <a:pt x="1073451" y="508615"/>
                  </a:lnTo>
                  <a:lnTo>
                    <a:pt x="0" y="508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291" t="0" r="-29221" b="-1474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1073455" cy="537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633806"/>
                  </a:solidFill>
                  <a:latin typeface="Garet"/>
                  <a:ea typeface="Garet"/>
                  <a:cs typeface="Garet"/>
                  <a:sym typeface="Garet"/>
                </a:rPr>
                <a:t>Class</a:t>
              </a:r>
            </a:p>
          </p:txBody>
        </p:sp>
      </p:grpSp>
      <p:sp>
        <p:nvSpPr>
          <p:cNvPr name="Freeform 125" id="125"/>
          <p:cNvSpPr/>
          <p:nvPr/>
        </p:nvSpPr>
        <p:spPr>
          <a:xfrm flipH="false" flipV="false" rot="0">
            <a:off x="13722934" y="8703493"/>
            <a:ext cx="1414243" cy="470440"/>
          </a:xfrm>
          <a:custGeom>
            <a:avLst/>
            <a:gdLst/>
            <a:ahLst/>
            <a:cxnLst/>
            <a:rect r="r" b="b" t="t" l="l"/>
            <a:pathLst>
              <a:path h="470440" w="1414243">
                <a:moveTo>
                  <a:pt x="0" y="0"/>
                </a:moveTo>
                <a:lnTo>
                  <a:pt x="1414244" y="0"/>
                </a:lnTo>
                <a:lnTo>
                  <a:pt x="1414244" y="470439"/>
                </a:lnTo>
                <a:lnTo>
                  <a:pt x="0" y="47043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14025874" y="8696657"/>
            <a:ext cx="957491" cy="484111"/>
            <a:chOff x="0" y="0"/>
            <a:chExt cx="1276655" cy="64548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276650" cy="645477"/>
            </a:xfrm>
            <a:custGeom>
              <a:avLst/>
              <a:gdLst/>
              <a:ahLst/>
              <a:cxnLst/>
              <a:rect r="r" b="b" t="t" l="l"/>
              <a:pathLst>
                <a:path h="645477" w="1276650">
                  <a:moveTo>
                    <a:pt x="0" y="0"/>
                  </a:moveTo>
                  <a:lnTo>
                    <a:pt x="1276650" y="0"/>
                  </a:lnTo>
                  <a:lnTo>
                    <a:pt x="1276650" y="645477"/>
                  </a:lnTo>
                  <a:lnTo>
                    <a:pt x="0" y="6454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653" t="0" r="-8653" b="958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276655" cy="674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633806"/>
                  </a:solidFill>
                  <a:latin typeface="Garet"/>
                  <a:ea typeface="Garet"/>
                  <a:cs typeface="Garet"/>
                  <a:sym typeface="Garet"/>
                </a:rPr>
                <a:t>property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576702" y="3861464"/>
            <a:ext cx="7878747" cy="820703"/>
            <a:chOff x="0" y="0"/>
            <a:chExt cx="10504996" cy="109427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505059" cy="1094232"/>
            </a:xfrm>
            <a:custGeom>
              <a:avLst/>
              <a:gdLst/>
              <a:ahLst/>
              <a:cxnLst/>
              <a:rect r="r" b="b" t="t" l="l"/>
              <a:pathLst>
                <a:path h="1094232" w="10505059">
                  <a:moveTo>
                    <a:pt x="145923" y="0"/>
                  </a:moveTo>
                  <a:lnTo>
                    <a:pt x="10359136" y="0"/>
                  </a:lnTo>
                  <a:cubicBezTo>
                    <a:pt x="10439654" y="0"/>
                    <a:pt x="10505059" y="65405"/>
                    <a:pt x="10505059" y="145923"/>
                  </a:cubicBezTo>
                  <a:lnTo>
                    <a:pt x="10505059" y="948309"/>
                  </a:lnTo>
                  <a:cubicBezTo>
                    <a:pt x="10505059" y="1028827"/>
                    <a:pt x="10439654" y="1094232"/>
                    <a:pt x="10359136" y="1094232"/>
                  </a:cubicBezTo>
                  <a:lnTo>
                    <a:pt x="145923" y="1094232"/>
                  </a:lnTo>
                  <a:cubicBezTo>
                    <a:pt x="65405" y="1094232"/>
                    <a:pt x="0" y="1028954"/>
                    <a:pt x="0" y="948309"/>
                  </a:cubicBezTo>
                  <a:lnTo>
                    <a:pt x="0" y="145923"/>
                  </a:lnTo>
                  <a:cubicBezTo>
                    <a:pt x="0" y="65405"/>
                    <a:pt x="65405" y="0"/>
                    <a:pt x="145923" y="0"/>
                  </a:cubicBezTo>
                  <a:close/>
                </a:path>
              </a:pathLst>
            </a:custGeom>
            <a:solidFill>
              <a:srgbClr val="F1EFE8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9768202" y="4080319"/>
            <a:ext cx="218856" cy="218856"/>
          </a:xfrm>
          <a:custGeom>
            <a:avLst/>
            <a:gdLst/>
            <a:ahLst/>
            <a:cxnLst/>
            <a:rect r="r" b="b" t="t" l="l"/>
            <a:pathLst>
              <a:path h="218856" w="218856">
                <a:moveTo>
                  <a:pt x="0" y="0"/>
                </a:moveTo>
                <a:lnTo>
                  <a:pt x="218856" y="0"/>
                </a:lnTo>
                <a:lnTo>
                  <a:pt x="218856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2" id="132"/>
          <p:cNvGrpSpPr/>
          <p:nvPr/>
        </p:nvGrpSpPr>
        <p:grpSpPr>
          <a:xfrm rot="0">
            <a:off x="10178548" y="4025608"/>
            <a:ext cx="3570056" cy="306905"/>
            <a:chOff x="0" y="0"/>
            <a:chExt cx="4760074" cy="40920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760078" cy="409206"/>
            </a:xfrm>
            <a:custGeom>
              <a:avLst/>
              <a:gdLst/>
              <a:ahLst/>
              <a:cxnLst/>
              <a:rect r="r" b="b" t="t" l="l"/>
              <a:pathLst>
                <a:path h="409206" w="4760078">
                  <a:moveTo>
                    <a:pt x="0" y="0"/>
                  </a:moveTo>
                  <a:lnTo>
                    <a:pt x="4760078" y="0"/>
                  </a:lnTo>
                  <a:lnTo>
                    <a:pt x="4760078" y="409206"/>
                  </a:lnTo>
                  <a:lnTo>
                    <a:pt x="0" y="4092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090" r="0" b="-17122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4760074" cy="437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sz="1507">
                  <a:solidFill>
                    <a:srgbClr val="1A1A18"/>
                  </a:solidFill>
                  <a:latin typeface="Garet"/>
                  <a:ea typeface="Garet"/>
                  <a:cs typeface="Garet"/>
                  <a:sym typeface="Garet"/>
                </a:rPr>
                <a:t>Graph Suggestion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178548" y="4244683"/>
            <a:ext cx="5752086" cy="353978"/>
            <a:chOff x="0" y="0"/>
            <a:chExt cx="4741837" cy="29180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741840" cy="291806"/>
            </a:xfrm>
            <a:custGeom>
              <a:avLst/>
              <a:gdLst/>
              <a:ahLst/>
              <a:cxnLst/>
              <a:rect r="r" b="b" t="t" l="l"/>
              <a:pathLst>
                <a:path h="291806" w="4741840">
                  <a:moveTo>
                    <a:pt x="0" y="0"/>
                  </a:moveTo>
                  <a:lnTo>
                    <a:pt x="4741840" y="0"/>
                  </a:lnTo>
                  <a:lnTo>
                    <a:pt x="4741840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630" r="0" b="-26663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4741837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Suggest to view Graph with profile hierarchy Next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Triangle Shape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Geometric Triangle Shape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Geometric Triangle Shape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Geometric Triangle Shape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8163" y="267909"/>
            <a:ext cx="3119638" cy="443684"/>
            <a:chOff x="0" y="0"/>
            <a:chExt cx="4159517" cy="591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59504" cy="591566"/>
            </a:xfrm>
            <a:custGeom>
              <a:avLst/>
              <a:gdLst/>
              <a:ahLst/>
              <a:cxnLst/>
              <a:rect r="r" b="b" t="t" l="l"/>
              <a:pathLst>
                <a:path h="591566" w="4159504">
                  <a:moveTo>
                    <a:pt x="295783" y="0"/>
                  </a:moveTo>
                  <a:lnTo>
                    <a:pt x="3863721" y="0"/>
                  </a:lnTo>
                  <a:cubicBezTo>
                    <a:pt x="4027043" y="0"/>
                    <a:pt x="4159504" y="132461"/>
                    <a:pt x="4159504" y="295783"/>
                  </a:cubicBezTo>
                  <a:cubicBezTo>
                    <a:pt x="4159504" y="459105"/>
                    <a:pt x="4027043" y="591566"/>
                    <a:pt x="3863721" y="591566"/>
                  </a:cubicBezTo>
                  <a:lnTo>
                    <a:pt x="295783" y="591566"/>
                  </a:lnTo>
                  <a:cubicBezTo>
                    <a:pt x="132588" y="591566"/>
                    <a:pt x="0" y="458978"/>
                    <a:pt x="0" y="295783"/>
                  </a:cubicBezTo>
                  <a:cubicBezTo>
                    <a:pt x="0" y="132588"/>
                    <a:pt x="132588" y="0"/>
                    <a:pt x="295783" y="0"/>
                  </a:cubicBezTo>
                  <a:close/>
                </a:path>
              </a:pathLst>
            </a:custGeom>
            <a:solidFill>
              <a:srgbClr val="0C447C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0985" y="352773"/>
            <a:ext cx="2866815" cy="273956"/>
            <a:chOff x="0" y="0"/>
            <a:chExt cx="3822421" cy="365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420" cy="365275"/>
            </a:xfrm>
            <a:custGeom>
              <a:avLst/>
              <a:gdLst/>
              <a:ahLst/>
              <a:cxnLst/>
              <a:rect r="r" b="b" t="t" l="l"/>
              <a:pathLst>
                <a:path h="365275" w="3822420">
                  <a:moveTo>
                    <a:pt x="0" y="0"/>
                  </a:moveTo>
                  <a:lnTo>
                    <a:pt x="3822420" y="0"/>
                  </a:lnTo>
                  <a:lnTo>
                    <a:pt x="3822420" y="365275"/>
                  </a:lnTo>
                  <a:lnTo>
                    <a:pt x="0" y="36527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0882" r="0" b="-1469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822421" cy="38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"/>
                </a:lnSpc>
              </a:pPr>
              <a:r>
                <a:rPr lang="en-US" sz="1309">
                  <a:solidFill>
                    <a:srgbClr val="0C447C"/>
                  </a:solidFill>
                  <a:latin typeface="Garet"/>
                  <a:ea typeface="Garet"/>
                  <a:cs typeface="Garet"/>
                  <a:sym typeface="Garet"/>
                </a:rPr>
                <a:t>Technical Consumption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8163" y="518849"/>
            <a:ext cx="17511560" cy="1422260"/>
            <a:chOff x="0" y="0"/>
            <a:chExt cx="23348747" cy="1896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48742" cy="1896349"/>
            </a:xfrm>
            <a:custGeom>
              <a:avLst/>
              <a:gdLst/>
              <a:ahLst/>
              <a:cxnLst/>
              <a:rect r="r" b="b" t="t" l="l"/>
              <a:pathLst>
                <a:path h="1896349" w="23348742">
                  <a:moveTo>
                    <a:pt x="0" y="0"/>
                  </a:moveTo>
                  <a:lnTo>
                    <a:pt x="23348742" y="0"/>
                  </a:lnTo>
                  <a:lnTo>
                    <a:pt x="23348742" y="1896349"/>
                  </a:lnTo>
                  <a:lnTo>
                    <a:pt x="0" y="1896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6512" r="0" b="-16330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3825"/>
              <a:ext cx="23348747" cy="1772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1"/>
                </a:lnSpc>
              </a:pPr>
              <a:r>
                <a:rPr lang="en-US" b="true" sz="5241">
                  <a:solidFill>
                    <a:srgbClr val="1A1A18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Structured Developer View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4603" y="1665669"/>
            <a:ext cx="17317450" cy="436580"/>
            <a:chOff x="0" y="0"/>
            <a:chExt cx="23089934" cy="5821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89929" cy="582109"/>
            </a:xfrm>
            <a:custGeom>
              <a:avLst/>
              <a:gdLst/>
              <a:ahLst/>
              <a:cxnLst/>
              <a:rect r="r" b="b" t="t" l="l"/>
              <a:pathLst>
                <a:path h="582109" w="23089929">
                  <a:moveTo>
                    <a:pt x="0" y="0"/>
                  </a:moveTo>
                  <a:lnTo>
                    <a:pt x="23089929" y="0"/>
                  </a:lnTo>
                  <a:lnTo>
                    <a:pt x="23089929" y="582109"/>
                  </a:lnTo>
                  <a:lnTo>
                    <a:pt x="0" y="58210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28432" r="0" b="-7173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3089934" cy="63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084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Code-like representation for implementers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52012" y="2367601"/>
            <a:ext cx="5578935" cy="1864529"/>
          </a:xfrm>
          <a:custGeom>
            <a:avLst/>
            <a:gdLst/>
            <a:ahLst/>
            <a:cxnLst/>
            <a:rect r="r" b="b" t="t" l="l"/>
            <a:pathLst>
              <a:path h="1864529" w="5578935">
                <a:moveTo>
                  <a:pt x="0" y="0"/>
                </a:moveTo>
                <a:lnTo>
                  <a:pt x="5578935" y="0"/>
                </a:lnTo>
                <a:lnTo>
                  <a:pt x="5578935" y="1864529"/>
                </a:lnTo>
                <a:lnTo>
                  <a:pt x="0" y="18645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8846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45763" y="2661361"/>
            <a:ext cx="554603" cy="554603"/>
            <a:chOff x="0" y="0"/>
            <a:chExt cx="739470" cy="7394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9521" cy="739521"/>
            </a:xfrm>
            <a:custGeom>
              <a:avLst/>
              <a:gdLst/>
              <a:ahLst/>
              <a:cxnLst/>
              <a:rect r="r" b="b" t="t" l="l"/>
              <a:pathLst>
                <a:path h="739521" w="739521">
                  <a:moveTo>
                    <a:pt x="147955" y="0"/>
                  </a:moveTo>
                  <a:lnTo>
                    <a:pt x="591566" y="0"/>
                  </a:lnTo>
                  <a:cubicBezTo>
                    <a:pt x="673227" y="0"/>
                    <a:pt x="739521" y="66294"/>
                    <a:pt x="739521" y="147955"/>
                  </a:cubicBezTo>
                  <a:lnTo>
                    <a:pt x="739521" y="591566"/>
                  </a:lnTo>
                  <a:cubicBezTo>
                    <a:pt x="739521" y="673227"/>
                    <a:pt x="673354" y="739521"/>
                    <a:pt x="591566" y="739521"/>
                  </a:cubicBezTo>
                  <a:lnTo>
                    <a:pt x="147955" y="739521"/>
                  </a:lnTo>
                  <a:cubicBezTo>
                    <a:pt x="66294" y="739521"/>
                    <a:pt x="0" y="673227"/>
                    <a:pt x="0" y="591566"/>
                  </a:cubicBezTo>
                  <a:lnTo>
                    <a:pt x="0" y="147955"/>
                  </a:lnTo>
                  <a:cubicBezTo>
                    <a:pt x="0" y="66294"/>
                    <a:pt x="66294" y="0"/>
                    <a:pt x="147955" y="0"/>
                  </a:cubicBezTo>
                  <a:close/>
                </a:path>
              </a:pathLst>
            </a:custGeom>
            <a:solidFill>
              <a:srgbClr val="E24B4A">
                <a:alpha val="784"/>
              </a:srgbClr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012146" y="2827744"/>
            <a:ext cx="221837" cy="221837"/>
          </a:xfrm>
          <a:custGeom>
            <a:avLst/>
            <a:gdLst/>
            <a:ahLst/>
            <a:cxnLst/>
            <a:rect r="r" b="b" t="t" l="l"/>
            <a:pathLst>
              <a:path h="221837" w="221837">
                <a:moveTo>
                  <a:pt x="0" y="0"/>
                </a:moveTo>
                <a:lnTo>
                  <a:pt x="221837" y="0"/>
                </a:lnTo>
                <a:lnTo>
                  <a:pt x="221837" y="221837"/>
                </a:lnTo>
                <a:lnTo>
                  <a:pt x="0" y="221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66748" y="2733323"/>
            <a:ext cx="2107492" cy="403460"/>
            <a:chOff x="0" y="0"/>
            <a:chExt cx="2809989" cy="5379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09980" cy="537948"/>
            </a:xfrm>
            <a:custGeom>
              <a:avLst/>
              <a:gdLst/>
              <a:ahLst/>
              <a:cxnLst/>
              <a:rect r="r" b="b" t="t" l="l"/>
              <a:pathLst>
                <a:path h="537948" w="2809980">
                  <a:moveTo>
                    <a:pt x="0" y="0"/>
                  </a:moveTo>
                  <a:lnTo>
                    <a:pt x="2809980" y="0"/>
                  </a:lnTo>
                  <a:lnTo>
                    <a:pt x="2809980" y="537948"/>
                  </a:lnTo>
                  <a:lnTo>
                    <a:pt x="0" y="5379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18" r="48683" b="-3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809989" cy="595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5"/>
                </a:lnSpc>
              </a:pPr>
              <a:r>
                <a:rPr lang="en-US" b="true" sz="196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5763" y="3315672"/>
            <a:ext cx="5102342" cy="720982"/>
            <a:chOff x="0" y="0"/>
            <a:chExt cx="6803123" cy="9613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03118" cy="961306"/>
            </a:xfrm>
            <a:custGeom>
              <a:avLst/>
              <a:gdLst/>
              <a:ahLst/>
              <a:cxnLst/>
              <a:rect r="r" b="b" t="t" l="l"/>
              <a:pathLst>
                <a:path h="961306" w="6803118">
                  <a:moveTo>
                    <a:pt x="0" y="0"/>
                  </a:moveTo>
                  <a:lnTo>
                    <a:pt x="6803118" y="0"/>
                  </a:lnTo>
                  <a:lnTo>
                    <a:pt x="6803118" y="961306"/>
                  </a:lnTo>
                  <a:lnTo>
                    <a:pt x="0" y="9613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894" r="0" b="-878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803123" cy="1018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7"/>
                </a:lnSpc>
              </a:pPr>
              <a:r>
                <a:rPr lang="en-US" sz="1599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Technical users need quick implementation summary of fields, requirements, and nesting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352584" y="2367601"/>
            <a:ext cx="5578935" cy="1864529"/>
          </a:xfrm>
          <a:custGeom>
            <a:avLst/>
            <a:gdLst/>
            <a:ahLst/>
            <a:cxnLst/>
            <a:rect r="r" b="b" t="t" l="l"/>
            <a:pathLst>
              <a:path h="1864529" w="5578935">
                <a:moveTo>
                  <a:pt x="0" y="0"/>
                </a:moveTo>
                <a:lnTo>
                  <a:pt x="5578936" y="0"/>
                </a:lnTo>
                <a:lnTo>
                  <a:pt x="5578936" y="1864529"/>
                </a:lnTo>
                <a:lnTo>
                  <a:pt x="0" y="18645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8846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646345" y="2661361"/>
            <a:ext cx="554603" cy="554603"/>
            <a:chOff x="0" y="0"/>
            <a:chExt cx="739470" cy="7394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9521" cy="739521"/>
            </a:xfrm>
            <a:custGeom>
              <a:avLst/>
              <a:gdLst/>
              <a:ahLst/>
              <a:cxnLst/>
              <a:rect r="r" b="b" t="t" l="l"/>
              <a:pathLst>
                <a:path h="739521" w="739521">
                  <a:moveTo>
                    <a:pt x="147955" y="0"/>
                  </a:moveTo>
                  <a:lnTo>
                    <a:pt x="591566" y="0"/>
                  </a:lnTo>
                  <a:cubicBezTo>
                    <a:pt x="673227" y="0"/>
                    <a:pt x="739521" y="66294"/>
                    <a:pt x="739521" y="147955"/>
                  </a:cubicBezTo>
                  <a:lnTo>
                    <a:pt x="739521" y="591566"/>
                  </a:lnTo>
                  <a:cubicBezTo>
                    <a:pt x="739521" y="673227"/>
                    <a:pt x="673354" y="739521"/>
                    <a:pt x="591566" y="739521"/>
                  </a:cubicBezTo>
                  <a:lnTo>
                    <a:pt x="147955" y="739521"/>
                  </a:lnTo>
                  <a:cubicBezTo>
                    <a:pt x="66294" y="739521"/>
                    <a:pt x="0" y="673227"/>
                    <a:pt x="0" y="591566"/>
                  </a:cubicBezTo>
                  <a:lnTo>
                    <a:pt x="0" y="147955"/>
                  </a:lnTo>
                  <a:cubicBezTo>
                    <a:pt x="0" y="66294"/>
                    <a:pt x="66294" y="0"/>
                    <a:pt x="147955" y="0"/>
                  </a:cubicBezTo>
                  <a:close/>
                </a:path>
              </a:pathLst>
            </a:custGeom>
            <a:solidFill>
              <a:srgbClr val="639922">
                <a:alpha val="784"/>
              </a:srgbClr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6812718" y="2827744"/>
            <a:ext cx="221837" cy="221837"/>
          </a:xfrm>
          <a:custGeom>
            <a:avLst/>
            <a:gdLst/>
            <a:ahLst/>
            <a:cxnLst/>
            <a:rect r="r" b="b" t="t" l="l"/>
            <a:pathLst>
              <a:path h="221837" w="221837">
                <a:moveTo>
                  <a:pt x="0" y="0"/>
                </a:moveTo>
                <a:lnTo>
                  <a:pt x="221837" y="0"/>
                </a:lnTo>
                <a:lnTo>
                  <a:pt x="221837" y="221837"/>
                </a:lnTo>
                <a:lnTo>
                  <a:pt x="0" y="221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362873" y="2692416"/>
            <a:ext cx="3255859" cy="403460"/>
            <a:chOff x="0" y="0"/>
            <a:chExt cx="4341146" cy="5379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41132" cy="537948"/>
            </a:xfrm>
            <a:custGeom>
              <a:avLst/>
              <a:gdLst/>
              <a:ahLst/>
              <a:cxnLst/>
              <a:rect r="r" b="b" t="t" l="l"/>
              <a:pathLst>
                <a:path h="537948" w="4341132">
                  <a:moveTo>
                    <a:pt x="0" y="0"/>
                  </a:moveTo>
                  <a:lnTo>
                    <a:pt x="4341132" y="0"/>
                  </a:lnTo>
                  <a:lnTo>
                    <a:pt x="4341132" y="537948"/>
                  </a:lnTo>
                  <a:lnTo>
                    <a:pt x="0" y="5379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18" r="66783" b="-3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341146" cy="595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5"/>
                </a:lnSpc>
              </a:pPr>
              <a:r>
                <a:rPr lang="en-US" b="true" sz="196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Solution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46345" y="3306147"/>
            <a:ext cx="5102342" cy="720982"/>
            <a:chOff x="0" y="0"/>
            <a:chExt cx="6803123" cy="9613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03118" cy="961306"/>
            </a:xfrm>
            <a:custGeom>
              <a:avLst/>
              <a:gdLst/>
              <a:ahLst/>
              <a:cxnLst/>
              <a:rect r="r" b="b" t="t" l="l"/>
              <a:pathLst>
                <a:path h="961306" w="6803118">
                  <a:moveTo>
                    <a:pt x="0" y="0"/>
                  </a:moveTo>
                  <a:lnTo>
                    <a:pt x="6803118" y="0"/>
                  </a:lnTo>
                  <a:lnTo>
                    <a:pt x="6803118" y="961306"/>
                  </a:lnTo>
                  <a:lnTo>
                    <a:pt x="0" y="9613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894" r="0" b="-878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803123" cy="1018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7"/>
                </a:lnSpc>
              </a:pPr>
              <a:r>
                <a:rPr lang="en-US" sz="1599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Structured code-like view with requirement metadata and links to profile origins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2153376" y="2367601"/>
            <a:ext cx="5578935" cy="1864529"/>
          </a:xfrm>
          <a:custGeom>
            <a:avLst/>
            <a:gdLst/>
            <a:ahLst/>
            <a:cxnLst/>
            <a:rect r="r" b="b" t="t" l="l"/>
            <a:pathLst>
              <a:path h="1864529" w="5578935">
                <a:moveTo>
                  <a:pt x="0" y="0"/>
                </a:moveTo>
                <a:lnTo>
                  <a:pt x="5578936" y="0"/>
                </a:lnTo>
                <a:lnTo>
                  <a:pt x="5578936" y="1864529"/>
                </a:lnTo>
                <a:lnTo>
                  <a:pt x="0" y="18645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8846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2447137" y="2661361"/>
            <a:ext cx="554603" cy="554603"/>
            <a:chOff x="0" y="0"/>
            <a:chExt cx="739470" cy="7394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9521" cy="739521"/>
            </a:xfrm>
            <a:custGeom>
              <a:avLst/>
              <a:gdLst/>
              <a:ahLst/>
              <a:cxnLst/>
              <a:rect r="r" b="b" t="t" l="l"/>
              <a:pathLst>
                <a:path h="739521" w="739521">
                  <a:moveTo>
                    <a:pt x="147955" y="0"/>
                  </a:moveTo>
                  <a:lnTo>
                    <a:pt x="591566" y="0"/>
                  </a:lnTo>
                  <a:cubicBezTo>
                    <a:pt x="673227" y="0"/>
                    <a:pt x="739521" y="66294"/>
                    <a:pt x="739521" y="147955"/>
                  </a:cubicBezTo>
                  <a:lnTo>
                    <a:pt x="739521" y="591566"/>
                  </a:lnTo>
                  <a:cubicBezTo>
                    <a:pt x="739521" y="673227"/>
                    <a:pt x="673354" y="739521"/>
                    <a:pt x="591566" y="739521"/>
                  </a:cubicBezTo>
                  <a:lnTo>
                    <a:pt x="147955" y="739521"/>
                  </a:lnTo>
                  <a:cubicBezTo>
                    <a:pt x="66294" y="739521"/>
                    <a:pt x="0" y="673227"/>
                    <a:pt x="0" y="591566"/>
                  </a:cubicBezTo>
                  <a:lnTo>
                    <a:pt x="0" y="147955"/>
                  </a:lnTo>
                  <a:cubicBezTo>
                    <a:pt x="0" y="66294"/>
                    <a:pt x="66294" y="0"/>
                    <a:pt x="147955" y="0"/>
                  </a:cubicBezTo>
                  <a:close/>
                </a:path>
              </a:pathLst>
            </a:custGeom>
            <a:solidFill>
              <a:srgbClr val="0C447C">
                <a:alpha val="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13510" y="2827744"/>
            <a:ext cx="221837" cy="221837"/>
            <a:chOff x="0" y="0"/>
            <a:chExt cx="295783" cy="2957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18415"/>
              <a:ext cx="295656" cy="258699"/>
            </a:xfrm>
            <a:custGeom>
              <a:avLst/>
              <a:gdLst/>
              <a:ahLst/>
              <a:cxnLst/>
              <a:rect r="r" b="b" t="t" l="l"/>
              <a:pathLst>
                <a:path h="258699" w="295656">
                  <a:moveTo>
                    <a:pt x="139192" y="31877"/>
                  </a:moveTo>
                  <a:lnTo>
                    <a:pt x="147828" y="43815"/>
                  </a:lnTo>
                  <a:lnTo>
                    <a:pt x="156464" y="31877"/>
                  </a:lnTo>
                  <a:cubicBezTo>
                    <a:pt x="170942" y="11938"/>
                    <a:pt x="194183" y="0"/>
                    <a:pt x="218821" y="0"/>
                  </a:cubicBezTo>
                  <a:cubicBezTo>
                    <a:pt x="261239" y="0"/>
                    <a:pt x="295656" y="34417"/>
                    <a:pt x="295656" y="76835"/>
                  </a:cubicBezTo>
                  <a:lnTo>
                    <a:pt x="295656" y="78359"/>
                  </a:lnTo>
                  <a:cubicBezTo>
                    <a:pt x="295656" y="143129"/>
                    <a:pt x="214884" y="218440"/>
                    <a:pt x="172720" y="250571"/>
                  </a:cubicBezTo>
                  <a:cubicBezTo>
                    <a:pt x="165608" y="256032"/>
                    <a:pt x="156718" y="258699"/>
                    <a:pt x="147828" y="258699"/>
                  </a:cubicBezTo>
                  <a:cubicBezTo>
                    <a:pt x="138938" y="258699"/>
                    <a:pt x="130048" y="256032"/>
                    <a:pt x="122936" y="250571"/>
                  </a:cubicBezTo>
                  <a:cubicBezTo>
                    <a:pt x="80772" y="218567"/>
                    <a:pt x="0" y="143256"/>
                    <a:pt x="0" y="78486"/>
                  </a:cubicBezTo>
                  <a:lnTo>
                    <a:pt x="0" y="76962"/>
                  </a:lnTo>
                  <a:cubicBezTo>
                    <a:pt x="0" y="34544"/>
                    <a:pt x="34417" y="127"/>
                    <a:pt x="76835" y="127"/>
                  </a:cubicBezTo>
                  <a:cubicBezTo>
                    <a:pt x="101473" y="127"/>
                    <a:pt x="124714" y="11938"/>
                    <a:pt x="139192" y="32004"/>
                  </a:cubicBezTo>
                  <a:close/>
                </a:path>
              </a:pathLst>
            </a:custGeom>
            <a:solidFill>
              <a:srgbClr val="0C447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220814" y="2736933"/>
            <a:ext cx="2007520" cy="403460"/>
            <a:chOff x="0" y="0"/>
            <a:chExt cx="2676693" cy="5379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76694" cy="537948"/>
            </a:xfrm>
            <a:custGeom>
              <a:avLst/>
              <a:gdLst/>
              <a:ahLst/>
              <a:cxnLst/>
              <a:rect r="r" b="b" t="t" l="l"/>
              <a:pathLst>
                <a:path h="537948" w="2676694">
                  <a:moveTo>
                    <a:pt x="0" y="0"/>
                  </a:moveTo>
                  <a:lnTo>
                    <a:pt x="2676694" y="0"/>
                  </a:lnTo>
                  <a:lnTo>
                    <a:pt x="2676694" y="537948"/>
                  </a:lnTo>
                  <a:lnTo>
                    <a:pt x="0" y="5379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29" t="0" r="51706" b="37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676693" cy="595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5"/>
                </a:lnSpc>
              </a:pPr>
              <a:r>
                <a:rPr lang="en-US" b="true" sz="1964">
                  <a:solidFill>
                    <a:srgbClr val="1A1A1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Benefit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47137" y="3315672"/>
            <a:ext cx="5102342" cy="720982"/>
            <a:chOff x="0" y="0"/>
            <a:chExt cx="6803123" cy="9613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03118" cy="961306"/>
            </a:xfrm>
            <a:custGeom>
              <a:avLst/>
              <a:gdLst/>
              <a:ahLst/>
              <a:cxnLst/>
              <a:rect r="r" b="b" t="t" l="l"/>
              <a:pathLst>
                <a:path h="961306" w="6803118">
                  <a:moveTo>
                    <a:pt x="0" y="0"/>
                  </a:moveTo>
                  <a:lnTo>
                    <a:pt x="6803118" y="0"/>
                  </a:lnTo>
                  <a:lnTo>
                    <a:pt x="6803118" y="961306"/>
                  </a:lnTo>
                  <a:lnTo>
                    <a:pt x="0" y="9613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894" r="0" b="-878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803123" cy="1018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7"/>
                </a:lnSpc>
              </a:pPr>
              <a:r>
                <a:rPr lang="en-US" sz="1599">
                  <a:solidFill>
                    <a:srgbClr val="5F5E5A"/>
                  </a:solidFill>
                  <a:latin typeface="Garet"/>
                  <a:ea typeface="Garet"/>
                  <a:cs typeface="Garet"/>
                  <a:sym typeface="Garet"/>
                </a:rPr>
                <a:t>Implementers understand specification without reading whole semantic document first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2620494" y="4441680"/>
            <a:ext cx="11179941" cy="5464320"/>
          </a:xfrm>
          <a:custGeom>
            <a:avLst/>
            <a:gdLst/>
            <a:ahLst/>
            <a:cxnLst/>
            <a:rect r="r" b="b" t="t" l="l"/>
            <a:pathLst>
              <a:path h="5464320" w="11179941">
                <a:moveTo>
                  <a:pt x="0" y="0"/>
                </a:moveTo>
                <a:lnTo>
                  <a:pt x="11179941" y="0"/>
                </a:lnTo>
                <a:lnTo>
                  <a:pt x="11179941" y="5464320"/>
                </a:lnTo>
                <a:lnTo>
                  <a:pt x="0" y="54643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DAHFUiPpSlw</dc:identifier>
  <dcterms:modified xsi:type="dcterms:W3CDTF">2011-08-01T06:04:30Z</dcterms:modified>
  <cp:revision>1</cp:revision>
  <dc:title>Dataspecer UX Proposal.pptx</dc:title>
</cp:coreProperties>
</file>